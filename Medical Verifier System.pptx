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Tahoma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Tahoma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Tahom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000198237_2_41:notes"/>
          <p:cNvSpPr txBox="1"/>
          <p:nvPr>
            <p:ph idx="1" type="body"/>
          </p:nvPr>
        </p:nvSpPr>
        <p:spPr>
          <a:xfrm>
            <a:off x="685793" y="4343389"/>
            <a:ext cx="5486391" cy="411477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e000198237_2_41:notes"/>
          <p:cNvSpPr/>
          <p:nvPr>
            <p:ph idx="2" type="sldImg"/>
          </p:nvPr>
        </p:nvSpPr>
        <p:spPr>
          <a:xfrm>
            <a:off x="1143223" y="685778"/>
            <a:ext cx="457222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000198237_2_50:notes"/>
          <p:cNvSpPr txBox="1"/>
          <p:nvPr>
            <p:ph idx="1" type="body"/>
          </p:nvPr>
        </p:nvSpPr>
        <p:spPr>
          <a:xfrm>
            <a:off x="685793" y="4343389"/>
            <a:ext cx="5486391" cy="411477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e000198237_2_50:notes"/>
          <p:cNvSpPr/>
          <p:nvPr>
            <p:ph idx="2" type="sldImg"/>
          </p:nvPr>
        </p:nvSpPr>
        <p:spPr>
          <a:xfrm>
            <a:off x="1143223" y="685778"/>
            <a:ext cx="457222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000198237_2_71:notes"/>
          <p:cNvSpPr txBox="1"/>
          <p:nvPr>
            <p:ph idx="1" type="body"/>
          </p:nvPr>
        </p:nvSpPr>
        <p:spPr>
          <a:xfrm>
            <a:off x="685793" y="4343389"/>
            <a:ext cx="5486391" cy="411477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e000198237_2_71:notes"/>
          <p:cNvSpPr/>
          <p:nvPr>
            <p:ph idx="2" type="sldImg"/>
          </p:nvPr>
        </p:nvSpPr>
        <p:spPr>
          <a:xfrm>
            <a:off x="1143223" y="685778"/>
            <a:ext cx="457222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000198237_2_85:notes"/>
          <p:cNvSpPr txBox="1"/>
          <p:nvPr>
            <p:ph idx="1" type="body"/>
          </p:nvPr>
        </p:nvSpPr>
        <p:spPr>
          <a:xfrm>
            <a:off x="685793" y="4343389"/>
            <a:ext cx="5486391" cy="411477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e000198237_2_85:notes"/>
          <p:cNvSpPr/>
          <p:nvPr>
            <p:ph idx="2" type="sldImg"/>
          </p:nvPr>
        </p:nvSpPr>
        <p:spPr>
          <a:xfrm>
            <a:off x="1143223" y="685778"/>
            <a:ext cx="457222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000198237_2_97:notes"/>
          <p:cNvSpPr txBox="1"/>
          <p:nvPr>
            <p:ph idx="1" type="body"/>
          </p:nvPr>
        </p:nvSpPr>
        <p:spPr>
          <a:xfrm>
            <a:off x="685793" y="4343389"/>
            <a:ext cx="5486391" cy="411477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e000198237_2_97:notes"/>
          <p:cNvSpPr/>
          <p:nvPr>
            <p:ph idx="2" type="sldImg"/>
          </p:nvPr>
        </p:nvSpPr>
        <p:spPr>
          <a:xfrm>
            <a:off x="1143223" y="685778"/>
            <a:ext cx="457222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000198237_2_112:notes"/>
          <p:cNvSpPr txBox="1"/>
          <p:nvPr>
            <p:ph idx="1" type="body"/>
          </p:nvPr>
        </p:nvSpPr>
        <p:spPr>
          <a:xfrm>
            <a:off x="685793" y="4343389"/>
            <a:ext cx="5486391" cy="411477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e000198237_2_112:notes"/>
          <p:cNvSpPr/>
          <p:nvPr>
            <p:ph idx="2" type="sldImg"/>
          </p:nvPr>
        </p:nvSpPr>
        <p:spPr>
          <a:xfrm>
            <a:off x="1143223" y="685778"/>
            <a:ext cx="457222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000198237_2_125:notes"/>
          <p:cNvSpPr txBox="1"/>
          <p:nvPr>
            <p:ph idx="1" type="body"/>
          </p:nvPr>
        </p:nvSpPr>
        <p:spPr>
          <a:xfrm>
            <a:off x="685793" y="4343389"/>
            <a:ext cx="5486391" cy="411477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e000198237_2_125:notes"/>
          <p:cNvSpPr/>
          <p:nvPr>
            <p:ph idx="2" type="sldImg"/>
          </p:nvPr>
        </p:nvSpPr>
        <p:spPr>
          <a:xfrm>
            <a:off x="1143223" y="685778"/>
            <a:ext cx="457222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000198237_2_144:notes"/>
          <p:cNvSpPr txBox="1"/>
          <p:nvPr>
            <p:ph idx="1" type="body"/>
          </p:nvPr>
        </p:nvSpPr>
        <p:spPr>
          <a:xfrm>
            <a:off x="685793" y="4343389"/>
            <a:ext cx="5486391" cy="411477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e000198237_2_144:notes"/>
          <p:cNvSpPr/>
          <p:nvPr>
            <p:ph idx="2" type="sldImg"/>
          </p:nvPr>
        </p:nvSpPr>
        <p:spPr>
          <a:xfrm>
            <a:off x="1143223" y="685778"/>
            <a:ext cx="457222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000198237_2_173:notes"/>
          <p:cNvSpPr txBox="1"/>
          <p:nvPr>
            <p:ph idx="1" type="body"/>
          </p:nvPr>
        </p:nvSpPr>
        <p:spPr>
          <a:xfrm>
            <a:off x="685793" y="4343389"/>
            <a:ext cx="5486391" cy="411477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e000198237_2_173:notes"/>
          <p:cNvSpPr/>
          <p:nvPr>
            <p:ph idx="2" type="sldImg"/>
          </p:nvPr>
        </p:nvSpPr>
        <p:spPr>
          <a:xfrm>
            <a:off x="1143223" y="685778"/>
            <a:ext cx="457222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000198237_2_181:notes"/>
          <p:cNvSpPr txBox="1"/>
          <p:nvPr>
            <p:ph idx="1" type="body"/>
          </p:nvPr>
        </p:nvSpPr>
        <p:spPr>
          <a:xfrm>
            <a:off x="685793" y="4343389"/>
            <a:ext cx="5486391" cy="411477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000198237_2_181:notes"/>
          <p:cNvSpPr/>
          <p:nvPr>
            <p:ph idx="2" type="sldImg"/>
          </p:nvPr>
        </p:nvSpPr>
        <p:spPr>
          <a:xfrm>
            <a:off x="1143223" y="685778"/>
            <a:ext cx="457222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480504" y="370761"/>
            <a:ext cx="8182991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1" i="0" sz="27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529960" y="1589405"/>
            <a:ext cx="3939778" cy="1292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 b="1" i="0" sz="17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8229600" w="146304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27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66" name="Google Shape;6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95" y="4843461"/>
            <a:ext cx="1076642" cy="25717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/>
          <p:nvPr/>
        </p:nvSpPr>
        <p:spPr>
          <a:xfrm>
            <a:off x="496117" y="716279"/>
            <a:ext cx="1393428" cy="266700"/>
          </a:xfrm>
          <a:custGeom>
            <a:rect b="b" l="l" r="r" t="t"/>
            <a:pathLst>
              <a:path extrusionOk="0" h="426719" w="2229485">
                <a:moveTo>
                  <a:pt x="2153246" y="0"/>
                </a:moveTo>
                <a:lnTo>
                  <a:pt x="76212" y="0"/>
                </a:lnTo>
                <a:lnTo>
                  <a:pt x="46548" y="5994"/>
                </a:lnTo>
                <a:lnTo>
                  <a:pt x="22323" y="22336"/>
                </a:lnTo>
                <a:lnTo>
                  <a:pt x="5989" y="46559"/>
                </a:lnTo>
                <a:lnTo>
                  <a:pt x="0" y="76200"/>
                </a:lnTo>
                <a:lnTo>
                  <a:pt x="0" y="350138"/>
                </a:lnTo>
                <a:lnTo>
                  <a:pt x="5989" y="379779"/>
                </a:lnTo>
                <a:lnTo>
                  <a:pt x="22323" y="404002"/>
                </a:lnTo>
                <a:lnTo>
                  <a:pt x="46548" y="420344"/>
                </a:lnTo>
                <a:lnTo>
                  <a:pt x="76212" y="426338"/>
                </a:lnTo>
                <a:lnTo>
                  <a:pt x="2153246" y="426338"/>
                </a:lnTo>
                <a:lnTo>
                  <a:pt x="2182887" y="420344"/>
                </a:lnTo>
                <a:lnTo>
                  <a:pt x="2207110" y="404002"/>
                </a:lnTo>
                <a:lnTo>
                  <a:pt x="2223452" y="379779"/>
                </a:lnTo>
                <a:lnTo>
                  <a:pt x="2229446" y="350138"/>
                </a:lnTo>
                <a:lnTo>
                  <a:pt x="2229446" y="76200"/>
                </a:lnTo>
                <a:lnTo>
                  <a:pt x="2223452" y="46559"/>
                </a:lnTo>
                <a:lnTo>
                  <a:pt x="2207110" y="22336"/>
                </a:lnTo>
                <a:lnTo>
                  <a:pt x="2182887" y="5994"/>
                </a:lnTo>
                <a:lnTo>
                  <a:pt x="2153246" y="0"/>
                </a:lnTo>
                <a:close/>
              </a:path>
            </a:pathLst>
          </a:custGeom>
          <a:solidFill>
            <a:srgbClr val="090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68" name="Google Shape;68;p15"/>
          <p:cNvSpPr/>
          <p:nvPr/>
        </p:nvSpPr>
        <p:spPr>
          <a:xfrm>
            <a:off x="496117" y="3597989"/>
            <a:ext cx="4327922" cy="829469"/>
          </a:xfrm>
          <a:custGeom>
            <a:rect b="b" l="l" r="r" t="t"/>
            <a:pathLst>
              <a:path extrusionOk="0" h="1327150" w="6924675">
                <a:moveTo>
                  <a:pt x="6829132" y="0"/>
                </a:moveTo>
                <a:lnTo>
                  <a:pt x="95275" y="0"/>
                </a:lnTo>
                <a:lnTo>
                  <a:pt x="58191" y="7489"/>
                </a:lnTo>
                <a:lnTo>
                  <a:pt x="27906" y="27908"/>
                </a:lnTo>
                <a:lnTo>
                  <a:pt x="7487" y="58185"/>
                </a:lnTo>
                <a:lnTo>
                  <a:pt x="0" y="95250"/>
                </a:lnTo>
                <a:lnTo>
                  <a:pt x="0" y="1231442"/>
                </a:lnTo>
                <a:lnTo>
                  <a:pt x="7487" y="1268532"/>
                </a:lnTo>
                <a:lnTo>
                  <a:pt x="27906" y="1298816"/>
                </a:lnTo>
                <a:lnTo>
                  <a:pt x="58191" y="1319232"/>
                </a:lnTo>
                <a:lnTo>
                  <a:pt x="95275" y="1326718"/>
                </a:lnTo>
                <a:lnTo>
                  <a:pt x="6829132" y="1326718"/>
                </a:lnTo>
                <a:lnTo>
                  <a:pt x="6866250" y="1319232"/>
                </a:lnTo>
                <a:lnTo>
                  <a:pt x="6896522" y="1298816"/>
                </a:lnTo>
                <a:lnTo>
                  <a:pt x="6916911" y="1268532"/>
                </a:lnTo>
                <a:lnTo>
                  <a:pt x="6924382" y="1231442"/>
                </a:lnTo>
                <a:lnTo>
                  <a:pt x="6924382" y="95250"/>
                </a:lnTo>
                <a:lnTo>
                  <a:pt x="6916911" y="58185"/>
                </a:lnTo>
                <a:lnTo>
                  <a:pt x="6896522" y="27908"/>
                </a:lnTo>
                <a:lnTo>
                  <a:pt x="6866250" y="7489"/>
                </a:lnTo>
                <a:lnTo>
                  <a:pt x="6829132" y="0"/>
                </a:lnTo>
                <a:close/>
              </a:path>
            </a:pathLst>
          </a:custGeom>
          <a:solidFill>
            <a:srgbClr val="01224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81" y="3813024"/>
            <a:ext cx="177181" cy="14175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type="title"/>
          </p:nvPr>
        </p:nvSpPr>
        <p:spPr>
          <a:xfrm>
            <a:off x="480504" y="370761"/>
            <a:ext cx="8182991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1" i="0" sz="27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1" i="0" sz="27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1" i="0" sz="17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480504" y="370761"/>
            <a:ext cx="8182991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1" i="0" sz="27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8229600" w="146304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27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24494" y="4843461"/>
            <a:ext cx="1076642" cy="25717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480504" y="370761"/>
            <a:ext cx="8182991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1" i="0" sz="27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529960" y="1589405"/>
            <a:ext cx="3939778" cy="1292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1" i="0" sz="1700" u="none" cap="none" strike="noStrike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9pPr>
          </a:lstStyle>
          <a:p/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9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hyperlink" Target="https://gamma.app/?utm_source=made-with-gamma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3428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>
            <p:ph type="title"/>
          </p:nvPr>
        </p:nvSpPr>
        <p:spPr>
          <a:xfrm>
            <a:off x="3925099" y="1164853"/>
            <a:ext cx="39972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Medical Verifier System</a:t>
            </a:r>
            <a:endParaRPr sz="2800"/>
          </a:p>
        </p:txBody>
      </p:sp>
      <p:sp>
        <p:nvSpPr>
          <p:cNvPr id="97" name="Google Shape;97;p19"/>
          <p:cNvSpPr/>
          <p:nvPr/>
        </p:nvSpPr>
        <p:spPr>
          <a:xfrm>
            <a:off x="3925094" y="3186271"/>
            <a:ext cx="3880247" cy="266700"/>
          </a:xfrm>
          <a:custGeom>
            <a:rect b="b" l="l" r="r" t="t"/>
            <a:pathLst>
              <a:path extrusionOk="0" h="426720" w="6208395">
                <a:moveTo>
                  <a:pt x="6131814" y="0"/>
                </a:moveTo>
                <a:lnTo>
                  <a:pt x="76200" y="0"/>
                </a:ln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0" y="350012"/>
                </a:lnTo>
                <a:lnTo>
                  <a:pt x="5994" y="379652"/>
                </a:lnTo>
                <a:lnTo>
                  <a:pt x="22336" y="403875"/>
                </a:lnTo>
                <a:lnTo>
                  <a:pt x="46559" y="420217"/>
                </a:lnTo>
                <a:lnTo>
                  <a:pt x="76200" y="426212"/>
                </a:lnTo>
                <a:lnTo>
                  <a:pt x="6131814" y="426212"/>
                </a:lnTo>
                <a:lnTo>
                  <a:pt x="6161508" y="420217"/>
                </a:lnTo>
                <a:lnTo>
                  <a:pt x="6185725" y="403875"/>
                </a:lnTo>
                <a:lnTo>
                  <a:pt x="6202037" y="379652"/>
                </a:lnTo>
                <a:lnTo>
                  <a:pt x="6208014" y="350012"/>
                </a:lnTo>
                <a:lnTo>
                  <a:pt x="6208014" y="76200"/>
                </a:lnTo>
                <a:lnTo>
                  <a:pt x="6202037" y="46559"/>
                </a:lnTo>
                <a:lnTo>
                  <a:pt x="6185725" y="22336"/>
                </a:lnTo>
                <a:lnTo>
                  <a:pt x="6161508" y="5994"/>
                </a:lnTo>
                <a:lnTo>
                  <a:pt x="6131814" y="0"/>
                </a:lnTo>
                <a:close/>
              </a:path>
            </a:pathLst>
          </a:custGeom>
          <a:solidFill>
            <a:srgbClr val="090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8" name="Google Shape;98;p19"/>
          <p:cNvSpPr txBox="1"/>
          <p:nvPr/>
        </p:nvSpPr>
        <p:spPr>
          <a:xfrm>
            <a:off x="3917474" y="2308415"/>
            <a:ext cx="4683125" cy="1088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marR="0" rtl="0" algn="l">
              <a:lnSpc>
                <a:spcPct val="138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An AI-powered framework for validating medical reasoning in multiple- choice questions — ensuring </a:t>
            </a:r>
            <a:r>
              <a:rPr b="1" lang="en-GB" sz="1100">
                <a:solidFill>
                  <a:srgbClr val="2B09FF"/>
                </a:solidFill>
                <a:latin typeface="Tahoma"/>
                <a:ea typeface="Tahoma"/>
                <a:cs typeface="Tahoma"/>
                <a:sym typeface="Tahoma"/>
              </a:rPr>
              <a:t>correctness</a:t>
            </a: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, transparency, and logical consistency across every step of clinical explanation.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DIAGNOSTIC REASONING · AI VERIFICATION · CLINICAL EDUCATION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9" name="Google Shape;99;p19"/>
          <p:cNvSpPr/>
          <p:nvPr/>
        </p:nvSpPr>
        <p:spPr>
          <a:xfrm>
            <a:off x="7931229" y="4698513"/>
            <a:ext cx="1169193" cy="414734"/>
          </a:xfrm>
          <a:custGeom>
            <a:rect b="b" l="l" r="r" t="t"/>
            <a:pathLst>
              <a:path extrusionOk="0" h="663575" w="1870709">
                <a:moveTo>
                  <a:pt x="1870709" y="0"/>
                </a:moveTo>
                <a:lnTo>
                  <a:pt x="0" y="0"/>
                </a:lnTo>
                <a:lnTo>
                  <a:pt x="0" y="663117"/>
                </a:lnTo>
                <a:lnTo>
                  <a:pt x="1870709" y="663117"/>
                </a:lnTo>
                <a:lnTo>
                  <a:pt x="1870709" y="0"/>
                </a:lnTo>
                <a:close/>
              </a:path>
            </a:pathLst>
          </a:custGeom>
          <a:solidFill>
            <a:srgbClr val="27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3428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>
            <p:ph type="title"/>
          </p:nvPr>
        </p:nvSpPr>
        <p:spPr>
          <a:xfrm>
            <a:off x="480504" y="370761"/>
            <a:ext cx="8182991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25">
            <a:spAutoFit/>
          </a:bodyPr>
          <a:lstStyle/>
          <a:p>
            <a:pPr indent="0" lvl="0" marL="3441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The Core Problem</a:t>
            </a:r>
            <a:endParaRPr sz="2500"/>
          </a:p>
        </p:txBody>
      </p:sp>
      <p:grpSp>
        <p:nvGrpSpPr>
          <p:cNvPr id="106" name="Google Shape;106;p20"/>
          <p:cNvGrpSpPr/>
          <p:nvPr/>
        </p:nvGrpSpPr>
        <p:grpSpPr>
          <a:xfrm>
            <a:off x="3910806" y="1688385"/>
            <a:ext cx="4737100" cy="939800"/>
            <a:chOff x="6257290" y="2701416"/>
            <a:chExt cx="7579360" cy="1503680"/>
          </a:xfrm>
        </p:grpSpPr>
        <p:sp>
          <p:nvSpPr>
            <p:cNvPr id="107" name="Google Shape;107;p20"/>
            <p:cNvSpPr/>
            <p:nvPr/>
          </p:nvSpPr>
          <p:spPr>
            <a:xfrm>
              <a:off x="6280150" y="2701416"/>
              <a:ext cx="7556500" cy="1503680"/>
            </a:xfrm>
            <a:custGeom>
              <a:rect b="b" l="l" r="r" t="t"/>
              <a:pathLst>
                <a:path extrusionOk="0" h="1503679" w="7556500">
                  <a:moveTo>
                    <a:pt x="7446771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1393698"/>
                  </a:lnTo>
                  <a:lnTo>
                    <a:pt x="8626" y="1436399"/>
                  </a:lnTo>
                  <a:lnTo>
                    <a:pt x="32146" y="1471279"/>
                  </a:lnTo>
                  <a:lnTo>
                    <a:pt x="67026" y="1494799"/>
                  </a:lnTo>
                  <a:lnTo>
                    <a:pt x="109727" y="1503426"/>
                  </a:lnTo>
                  <a:lnTo>
                    <a:pt x="7446771" y="1503426"/>
                  </a:lnTo>
                  <a:lnTo>
                    <a:pt x="7489473" y="1494799"/>
                  </a:lnTo>
                  <a:lnTo>
                    <a:pt x="7524353" y="1471279"/>
                  </a:lnTo>
                  <a:lnTo>
                    <a:pt x="7547873" y="1436399"/>
                  </a:lnTo>
                  <a:lnTo>
                    <a:pt x="7556500" y="1393698"/>
                  </a:lnTo>
                  <a:lnTo>
                    <a:pt x="7556500" y="109728"/>
                  </a:lnTo>
                  <a:lnTo>
                    <a:pt x="7547873" y="67026"/>
                  </a:lnTo>
                  <a:lnTo>
                    <a:pt x="7524353" y="32146"/>
                  </a:lnTo>
                  <a:lnTo>
                    <a:pt x="7489473" y="8626"/>
                  </a:lnTo>
                  <a:lnTo>
                    <a:pt x="7446771" y="0"/>
                  </a:lnTo>
                  <a:close/>
                </a:path>
              </a:pathLst>
            </a:custGeom>
            <a:solidFill>
              <a:srgbClr val="27242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108" name="Google Shape;108;p20"/>
            <p:cNvSpPr/>
            <p:nvPr/>
          </p:nvSpPr>
          <p:spPr>
            <a:xfrm>
              <a:off x="6280150" y="2701416"/>
              <a:ext cx="7556500" cy="1503680"/>
            </a:xfrm>
            <a:custGeom>
              <a:rect b="b" l="l" r="r" t="t"/>
              <a:pathLst>
                <a:path extrusionOk="0" h="1503679" w="7556500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7446771" y="0"/>
                  </a:lnTo>
                  <a:lnTo>
                    <a:pt x="7489473" y="8626"/>
                  </a:lnTo>
                  <a:lnTo>
                    <a:pt x="7524353" y="32146"/>
                  </a:lnTo>
                  <a:lnTo>
                    <a:pt x="7547873" y="67026"/>
                  </a:lnTo>
                  <a:lnTo>
                    <a:pt x="7556500" y="109728"/>
                  </a:lnTo>
                  <a:lnTo>
                    <a:pt x="7556500" y="1393698"/>
                  </a:lnTo>
                  <a:lnTo>
                    <a:pt x="7547873" y="1436399"/>
                  </a:lnTo>
                  <a:lnTo>
                    <a:pt x="7524353" y="1471279"/>
                  </a:lnTo>
                  <a:lnTo>
                    <a:pt x="7489473" y="1494799"/>
                  </a:lnTo>
                  <a:lnTo>
                    <a:pt x="7446771" y="1503426"/>
                  </a:lnTo>
                  <a:lnTo>
                    <a:pt x="109727" y="1503426"/>
                  </a:lnTo>
                  <a:lnTo>
                    <a:pt x="67026" y="1494799"/>
                  </a:lnTo>
                  <a:lnTo>
                    <a:pt x="32146" y="1471279"/>
                  </a:lnTo>
                  <a:lnTo>
                    <a:pt x="8626" y="1436399"/>
                  </a:lnTo>
                  <a:lnTo>
                    <a:pt x="0" y="1393698"/>
                  </a:lnTo>
                  <a:lnTo>
                    <a:pt x="0" y="109728"/>
                  </a:lnTo>
                  <a:close/>
                </a:path>
              </a:pathLst>
            </a:custGeom>
            <a:noFill/>
            <a:ln cap="flat" cmpd="sng" w="22850">
              <a:solidFill>
                <a:srgbClr val="2A18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109" name="Google Shape;109;p20"/>
            <p:cNvSpPr/>
            <p:nvPr/>
          </p:nvSpPr>
          <p:spPr>
            <a:xfrm>
              <a:off x="6257290" y="2701416"/>
              <a:ext cx="91440" cy="1503680"/>
            </a:xfrm>
            <a:custGeom>
              <a:rect b="b" l="l" r="r" t="t"/>
              <a:pathLst>
                <a:path extrusionOk="0" h="1503679" w="91439">
                  <a:moveTo>
                    <a:pt x="45720" y="0"/>
                  </a:move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1457706"/>
                  </a:lnTo>
                  <a:lnTo>
                    <a:pt x="3589" y="1475511"/>
                  </a:lnTo>
                  <a:lnTo>
                    <a:pt x="13382" y="1490043"/>
                  </a:lnTo>
                  <a:lnTo>
                    <a:pt x="27914" y="1499836"/>
                  </a:lnTo>
                  <a:lnTo>
                    <a:pt x="45720" y="1503426"/>
                  </a:lnTo>
                  <a:lnTo>
                    <a:pt x="63525" y="1499836"/>
                  </a:lnTo>
                  <a:lnTo>
                    <a:pt x="78057" y="1490043"/>
                  </a:lnTo>
                  <a:lnTo>
                    <a:pt x="87850" y="1475511"/>
                  </a:lnTo>
                  <a:lnTo>
                    <a:pt x="91439" y="1457706"/>
                  </a:lnTo>
                  <a:lnTo>
                    <a:pt x="91439" y="45720"/>
                  </a:lnTo>
                  <a:lnTo>
                    <a:pt x="87850" y="27914"/>
                  </a:lnTo>
                  <a:lnTo>
                    <a:pt x="78057" y="13382"/>
                  </a:lnTo>
                  <a:lnTo>
                    <a:pt x="63525" y="3589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2B09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</p:grpSp>
      <p:sp>
        <p:nvSpPr>
          <p:cNvPr id="110" name="Google Shape;110;p20"/>
          <p:cNvSpPr txBox="1"/>
          <p:nvPr/>
        </p:nvSpPr>
        <p:spPr>
          <a:xfrm>
            <a:off x="3917474" y="947436"/>
            <a:ext cx="4599781" cy="1518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Large language models produce fluent, confident prose — but fluency is not validity. In the medical domain, </a:t>
            </a:r>
            <a:r>
              <a:rPr b="1" lang="en-GB" sz="1000">
                <a:solidFill>
                  <a:srgbClr val="2B09FF"/>
                </a:solidFill>
                <a:latin typeface="Tahoma"/>
                <a:ea typeface="Tahoma"/>
                <a:cs typeface="Tahoma"/>
                <a:sym typeface="Tahoma"/>
              </a:rPr>
              <a:t>errors in reasoning can be subtle, consequential, and hard to detect</a:t>
            </a:r>
            <a:r>
              <a:rPr lang="en-GB" sz="10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Logical Gaps</a:t>
            </a:r>
            <a:endParaRPr sz="1300">
              <a:latin typeface="Tahoma"/>
              <a:ea typeface="Tahoma"/>
              <a:cs typeface="Tahoma"/>
              <a:sym typeface="Tahoma"/>
            </a:endParaRPr>
          </a:p>
          <a:p>
            <a:pPr indent="0" lvl="0" marL="190500" marR="27940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Missing intermediate steps leave conclusions unsupported by stated premises.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11" name="Google Shape;111;p20"/>
          <p:cNvGrpSpPr/>
          <p:nvPr/>
        </p:nvGrpSpPr>
        <p:grpSpPr>
          <a:xfrm>
            <a:off x="3910806" y="2742802"/>
            <a:ext cx="4737100" cy="939800"/>
            <a:chOff x="6257290" y="4388484"/>
            <a:chExt cx="7579360" cy="1503680"/>
          </a:xfrm>
        </p:grpSpPr>
        <p:sp>
          <p:nvSpPr>
            <p:cNvPr id="112" name="Google Shape;112;p20"/>
            <p:cNvSpPr/>
            <p:nvPr/>
          </p:nvSpPr>
          <p:spPr>
            <a:xfrm>
              <a:off x="6280150" y="4388484"/>
              <a:ext cx="7556500" cy="1503680"/>
            </a:xfrm>
            <a:custGeom>
              <a:rect b="b" l="l" r="r" t="t"/>
              <a:pathLst>
                <a:path extrusionOk="0" h="1503679" w="7556500">
                  <a:moveTo>
                    <a:pt x="7446771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1393697"/>
                  </a:lnTo>
                  <a:lnTo>
                    <a:pt x="8626" y="1436399"/>
                  </a:lnTo>
                  <a:lnTo>
                    <a:pt x="32146" y="1471279"/>
                  </a:lnTo>
                  <a:lnTo>
                    <a:pt x="67026" y="1494799"/>
                  </a:lnTo>
                  <a:lnTo>
                    <a:pt x="109727" y="1503426"/>
                  </a:lnTo>
                  <a:lnTo>
                    <a:pt x="7446771" y="1503426"/>
                  </a:lnTo>
                  <a:lnTo>
                    <a:pt x="7489473" y="1494799"/>
                  </a:lnTo>
                  <a:lnTo>
                    <a:pt x="7524353" y="1471279"/>
                  </a:lnTo>
                  <a:lnTo>
                    <a:pt x="7547873" y="1436399"/>
                  </a:lnTo>
                  <a:lnTo>
                    <a:pt x="7556500" y="1393697"/>
                  </a:lnTo>
                  <a:lnTo>
                    <a:pt x="7556500" y="109727"/>
                  </a:lnTo>
                  <a:lnTo>
                    <a:pt x="7547873" y="67026"/>
                  </a:lnTo>
                  <a:lnTo>
                    <a:pt x="7524353" y="32146"/>
                  </a:lnTo>
                  <a:lnTo>
                    <a:pt x="7489473" y="8626"/>
                  </a:lnTo>
                  <a:lnTo>
                    <a:pt x="7446771" y="0"/>
                  </a:lnTo>
                  <a:close/>
                </a:path>
              </a:pathLst>
            </a:custGeom>
            <a:solidFill>
              <a:srgbClr val="27242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113" name="Google Shape;113;p20"/>
            <p:cNvSpPr/>
            <p:nvPr/>
          </p:nvSpPr>
          <p:spPr>
            <a:xfrm>
              <a:off x="6280150" y="4388484"/>
              <a:ext cx="7556500" cy="1503680"/>
            </a:xfrm>
            <a:custGeom>
              <a:rect b="b" l="l" r="r" t="t"/>
              <a:pathLst>
                <a:path extrusionOk="0" h="1503679" w="7556500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7446771" y="0"/>
                  </a:lnTo>
                  <a:lnTo>
                    <a:pt x="7489473" y="8626"/>
                  </a:lnTo>
                  <a:lnTo>
                    <a:pt x="7524353" y="32146"/>
                  </a:lnTo>
                  <a:lnTo>
                    <a:pt x="7547873" y="67026"/>
                  </a:lnTo>
                  <a:lnTo>
                    <a:pt x="7556500" y="109727"/>
                  </a:lnTo>
                  <a:lnTo>
                    <a:pt x="7556500" y="1393697"/>
                  </a:lnTo>
                  <a:lnTo>
                    <a:pt x="7547873" y="1436399"/>
                  </a:lnTo>
                  <a:lnTo>
                    <a:pt x="7524353" y="1471279"/>
                  </a:lnTo>
                  <a:lnTo>
                    <a:pt x="7489473" y="1494799"/>
                  </a:lnTo>
                  <a:lnTo>
                    <a:pt x="7446771" y="1503426"/>
                  </a:lnTo>
                  <a:lnTo>
                    <a:pt x="109727" y="1503426"/>
                  </a:lnTo>
                  <a:lnTo>
                    <a:pt x="67026" y="1494799"/>
                  </a:lnTo>
                  <a:lnTo>
                    <a:pt x="32146" y="1471279"/>
                  </a:lnTo>
                  <a:lnTo>
                    <a:pt x="8626" y="1436399"/>
                  </a:lnTo>
                  <a:lnTo>
                    <a:pt x="0" y="1393697"/>
                  </a:lnTo>
                  <a:lnTo>
                    <a:pt x="0" y="109727"/>
                  </a:lnTo>
                  <a:close/>
                </a:path>
              </a:pathLst>
            </a:custGeom>
            <a:noFill/>
            <a:ln cap="flat" cmpd="sng" w="22850">
              <a:solidFill>
                <a:srgbClr val="2A18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114" name="Google Shape;114;p20"/>
            <p:cNvSpPr/>
            <p:nvPr/>
          </p:nvSpPr>
          <p:spPr>
            <a:xfrm>
              <a:off x="6257290" y="4388484"/>
              <a:ext cx="91440" cy="1503680"/>
            </a:xfrm>
            <a:custGeom>
              <a:rect b="b" l="l" r="r" t="t"/>
              <a:pathLst>
                <a:path extrusionOk="0" h="1503679" w="91439">
                  <a:moveTo>
                    <a:pt x="45720" y="0"/>
                  </a:move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1457706"/>
                  </a:lnTo>
                  <a:lnTo>
                    <a:pt x="3589" y="1475511"/>
                  </a:lnTo>
                  <a:lnTo>
                    <a:pt x="13382" y="1490043"/>
                  </a:lnTo>
                  <a:lnTo>
                    <a:pt x="27914" y="1499836"/>
                  </a:lnTo>
                  <a:lnTo>
                    <a:pt x="45720" y="1503426"/>
                  </a:lnTo>
                  <a:lnTo>
                    <a:pt x="63525" y="1499836"/>
                  </a:lnTo>
                  <a:lnTo>
                    <a:pt x="78057" y="1490043"/>
                  </a:lnTo>
                  <a:lnTo>
                    <a:pt x="87850" y="1475511"/>
                  </a:lnTo>
                  <a:lnTo>
                    <a:pt x="91439" y="1457706"/>
                  </a:lnTo>
                  <a:lnTo>
                    <a:pt x="91439" y="45719"/>
                  </a:lnTo>
                  <a:lnTo>
                    <a:pt x="87850" y="27914"/>
                  </a:lnTo>
                  <a:lnTo>
                    <a:pt x="78057" y="13382"/>
                  </a:lnTo>
                  <a:lnTo>
                    <a:pt x="63525" y="3589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2B09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</p:grpSp>
      <p:sp>
        <p:nvSpPr>
          <p:cNvPr id="115" name="Google Shape;115;p20"/>
          <p:cNvSpPr txBox="1"/>
          <p:nvPr/>
        </p:nvSpPr>
        <p:spPr>
          <a:xfrm>
            <a:off x="4102259" y="2866866"/>
            <a:ext cx="3861991" cy="653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Wrong Assumptions</a:t>
            </a:r>
            <a:endParaRPr sz="13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Incorrect domain premises propagate silently through otherwise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coherent reasoning chains.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16" name="Google Shape;116;p20"/>
          <p:cNvGrpSpPr/>
          <p:nvPr/>
        </p:nvGrpSpPr>
        <p:grpSpPr>
          <a:xfrm>
            <a:off x="3910806" y="3797299"/>
            <a:ext cx="4737100" cy="939800"/>
            <a:chOff x="6257290" y="6075679"/>
            <a:chExt cx="7579360" cy="1503680"/>
          </a:xfrm>
        </p:grpSpPr>
        <p:sp>
          <p:nvSpPr>
            <p:cNvPr id="117" name="Google Shape;117;p20"/>
            <p:cNvSpPr/>
            <p:nvPr/>
          </p:nvSpPr>
          <p:spPr>
            <a:xfrm>
              <a:off x="6280150" y="6075679"/>
              <a:ext cx="7556500" cy="1503680"/>
            </a:xfrm>
            <a:custGeom>
              <a:rect b="b" l="l" r="r" t="t"/>
              <a:pathLst>
                <a:path extrusionOk="0" h="1503679" w="7556500">
                  <a:moveTo>
                    <a:pt x="7446771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1393621"/>
                  </a:lnTo>
                  <a:lnTo>
                    <a:pt x="8626" y="1436336"/>
                  </a:lnTo>
                  <a:lnTo>
                    <a:pt x="32146" y="1471218"/>
                  </a:lnTo>
                  <a:lnTo>
                    <a:pt x="67026" y="1494738"/>
                  </a:lnTo>
                  <a:lnTo>
                    <a:pt x="109727" y="1503362"/>
                  </a:lnTo>
                  <a:lnTo>
                    <a:pt x="7446771" y="1503362"/>
                  </a:lnTo>
                  <a:lnTo>
                    <a:pt x="7489473" y="1494738"/>
                  </a:lnTo>
                  <a:lnTo>
                    <a:pt x="7524353" y="1471218"/>
                  </a:lnTo>
                  <a:lnTo>
                    <a:pt x="7547873" y="1436336"/>
                  </a:lnTo>
                  <a:lnTo>
                    <a:pt x="7556500" y="1393621"/>
                  </a:lnTo>
                  <a:lnTo>
                    <a:pt x="7556500" y="109728"/>
                  </a:lnTo>
                  <a:lnTo>
                    <a:pt x="7547873" y="67026"/>
                  </a:lnTo>
                  <a:lnTo>
                    <a:pt x="7524353" y="32146"/>
                  </a:lnTo>
                  <a:lnTo>
                    <a:pt x="7489473" y="8626"/>
                  </a:lnTo>
                  <a:lnTo>
                    <a:pt x="7446771" y="0"/>
                  </a:lnTo>
                  <a:close/>
                </a:path>
              </a:pathLst>
            </a:custGeom>
            <a:solidFill>
              <a:srgbClr val="27242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118" name="Google Shape;118;p20"/>
            <p:cNvSpPr/>
            <p:nvPr/>
          </p:nvSpPr>
          <p:spPr>
            <a:xfrm>
              <a:off x="6280150" y="6075679"/>
              <a:ext cx="7556500" cy="1503680"/>
            </a:xfrm>
            <a:custGeom>
              <a:rect b="b" l="l" r="r" t="t"/>
              <a:pathLst>
                <a:path extrusionOk="0" h="1503679" w="7556500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7446771" y="0"/>
                  </a:lnTo>
                  <a:lnTo>
                    <a:pt x="7489473" y="8626"/>
                  </a:lnTo>
                  <a:lnTo>
                    <a:pt x="7524353" y="32146"/>
                  </a:lnTo>
                  <a:lnTo>
                    <a:pt x="7547873" y="67026"/>
                  </a:lnTo>
                  <a:lnTo>
                    <a:pt x="7556500" y="109728"/>
                  </a:lnTo>
                  <a:lnTo>
                    <a:pt x="7556500" y="1393621"/>
                  </a:lnTo>
                  <a:lnTo>
                    <a:pt x="7547873" y="1436336"/>
                  </a:lnTo>
                  <a:lnTo>
                    <a:pt x="7524353" y="1471218"/>
                  </a:lnTo>
                  <a:lnTo>
                    <a:pt x="7489473" y="1494738"/>
                  </a:lnTo>
                  <a:lnTo>
                    <a:pt x="7446771" y="1503362"/>
                  </a:lnTo>
                  <a:lnTo>
                    <a:pt x="109727" y="1503362"/>
                  </a:lnTo>
                  <a:lnTo>
                    <a:pt x="67026" y="1494738"/>
                  </a:lnTo>
                  <a:lnTo>
                    <a:pt x="32146" y="1471218"/>
                  </a:lnTo>
                  <a:lnTo>
                    <a:pt x="8626" y="1436336"/>
                  </a:lnTo>
                  <a:lnTo>
                    <a:pt x="0" y="1393621"/>
                  </a:lnTo>
                  <a:lnTo>
                    <a:pt x="0" y="109728"/>
                  </a:lnTo>
                  <a:close/>
                </a:path>
              </a:pathLst>
            </a:custGeom>
            <a:noFill/>
            <a:ln cap="flat" cmpd="sng" w="22850">
              <a:solidFill>
                <a:srgbClr val="2A18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119" name="Google Shape;119;p20"/>
            <p:cNvSpPr/>
            <p:nvPr/>
          </p:nvSpPr>
          <p:spPr>
            <a:xfrm>
              <a:off x="6257290" y="6075679"/>
              <a:ext cx="91440" cy="1503680"/>
            </a:xfrm>
            <a:custGeom>
              <a:rect b="b" l="l" r="r" t="t"/>
              <a:pathLst>
                <a:path extrusionOk="0" h="1503679" w="91439">
                  <a:moveTo>
                    <a:pt x="45720" y="0"/>
                  </a:move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1457642"/>
                  </a:lnTo>
                  <a:lnTo>
                    <a:pt x="3589" y="1475437"/>
                  </a:lnTo>
                  <a:lnTo>
                    <a:pt x="13382" y="1489970"/>
                  </a:lnTo>
                  <a:lnTo>
                    <a:pt x="27914" y="1499769"/>
                  </a:lnTo>
                  <a:lnTo>
                    <a:pt x="45720" y="1503362"/>
                  </a:lnTo>
                  <a:lnTo>
                    <a:pt x="63525" y="1499769"/>
                  </a:lnTo>
                  <a:lnTo>
                    <a:pt x="78057" y="1489970"/>
                  </a:lnTo>
                  <a:lnTo>
                    <a:pt x="87850" y="1475437"/>
                  </a:lnTo>
                  <a:lnTo>
                    <a:pt x="91439" y="1457642"/>
                  </a:lnTo>
                  <a:lnTo>
                    <a:pt x="91439" y="45720"/>
                  </a:lnTo>
                  <a:lnTo>
                    <a:pt x="87850" y="27914"/>
                  </a:lnTo>
                  <a:lnTo>
                    <a:pt x="78057" y="13382"/>
                  </a:lnTo>
                  <a:lnTo>
                    <a:pt x="63525" y="3589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2B09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</p:grpSp>
      <p:sp>
        <p:nvSpPr>
          <p:cNvPr id="120" name="Google Shape;120;p20"/>
          <p:cNvSpPr txBox="1"/>
          <p:nvPr/>
        </p:nvSpPr>
        <p:spPr>
          <a:xfrm>
            <a:off x="4102259" y="3921521"/>
            <a:ext cx="3858419" cy="653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No Step-by-Step Audit</a:t>
            </a:r>
            <a:endParaRPr sz="13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Without structured verification, errors evade review until clinical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application.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7979172" y="4805732"/>
            <a:ext cx="1121172" cy="307578"/>
          </a:xfrm>
          <a:custGeom>
            <a:rect b="b" l="l" r="r" t="t"/>
            <a:pathLst>
              <a:path extrusionOk="0" h="492125" w="1793875">
                <a:moveTo>
                  <a:pt x="1793875" y="0"/>
                </a:moveTo>
                <a:lnTo>
                  <a:pt x="0" y="0"/>
                </a:lnTo>
                <a:lnTo>
                  <a:pt x="0" y="491566"/>
                </a:lnTo>
                <a:lnTo>
                  <a:pt x="1793875" y="491566"/>
                </a:lnTo>
                <a:lnTo>
                  <a:pt x="1793875" y="0"/>
                </a:lnTo>
                <a:close/>
              </a:path>
            </a:pathLst>
          </a:custGeom>
          <a:solidFill>
            <a:srgbClr val="27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2128" y="135048"/>
            <a:ext cx="24261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End-to-End Pipeline</a:t>
            </a:r>
            <a:endParaRPr sz="2000"/>
          </a:p>
        </p:txBody>
      </p:sp>
      <p:sp>
        <p:nvSpPr>
          <p:cNvPr id="127" name="Google Shape;127;p21"/>
          <p:cNvSpPr txBox="1"/>
          <p:nvPr/>
        </p:nvSpPr>
        <p:spPr>
          <a:xfrm>
            <a:off x="348678" y="761682"/>
            <a:ext cx="5175250" cy="134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From raw question text to validated logical output — every stage is designed for transparency and auditability.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28" name="Google Shape;1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592" y="983345"/>
            <a:ext cx="8430816" cy="364155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 txBox="1"/>
          <p:nvPr/>
        </p:nvSpPr>
        <p:spPr>
          <a:xfrm>
            <a:off x="2440146" y="3431366"/>
            <a:ext cx="1110059" cy="868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8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Atomic Fact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Extraction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ctr">
              <a:lnSpc>
                <a:spcPct val="109444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Identify discrete factual units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5579427" y="3274552"/>
            <a:ext cx="1259284" cy="868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25">
            <a:spAutoFit/>
          </a:bodyPr>
          <a:lstStyle/>
          <a:p>
            <a:pPr indent="0" lvl="0" marL="88900" marR="76200" rtl="0" algn="ctr">
              <a:lnSpc>
                <a:spcPct val="107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Graph Construction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ctr">
              <a:lnSpc>
                <a:spcPct val="109444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Build knowledge graph for relations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771017" y="1282129"/>
            <a:ext cx="1241425" cy="477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8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Text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Preprocessing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837724" y="2035174"/>
            <a:ext cx="1108075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225">
            <a:spAutoFit/>
          </a:bodyPr>
          <a:lstStyle/>
          <a:p>
            <a:pPr indent="0" lvl="0" marL="12700" marR="0" rtl="0" algn="ctr">
              <a:lnSpc>
                <a:spcPct val="9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Clean and segment clinical text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7203598" y="1282129"/>
            <a:ext cx="1121172" cy="1026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8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Logical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Validation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ctr">
              <a:lnSpc>
                <a:spcPct val="917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Verify consistency and produce verdict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4010263" y="1282129"/>
            <a:ext cx="1222772" cy="1026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8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SPO Triple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Generation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ctr">
              <a:lnSpc>
                <a:spcPct val="917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Convert facts into subject- predicate-object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348678" y="4708842"/>
            <a:ext cx="8074819" cy="134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The pipeline accepts a clinical question paired with its reasoning text and returns a structured verdict on logical integrity, flagging gaps or unsupported claims at each node.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" name="Google Shape;136;p21">
            <a:hlinkClick r:id="rId4"/>
          </p:cNvPr>
          <p:cNvSpPr/>
          <p:nvPr/>
        </p:nvSpPr>
        <p:spPr>
          <a:xfrm>
            <a:off x="7992269" y="4847333"/>
            <a:ext cx="1108075" cy="265906"/>
          </a:xfrm>
          <a:custGeom>
            <a:rect b="b" l="l" r="r" t="t"/>
            <a:pathLst>
              <a:path extrusionOk="0" h="425450" w="1772919">
                <a:moveTo>
                  <a:pt x="1772920" y="0"/>
                </a:moveTo>
                <a:lnTo>
                  <a:pt x="0" y="0"/>
                </a:lnTo>
                <a:lnTo>
                  <a:pt x="0" y="425005"/>
                </a:lnTo>
                <a:lnTo>
                  <a:pt x="1772920" y="425005"/>
                </a:lnTo>
                <a:lnTo>
                  <a:pt x="1772920" y="0"/>
                </a:lnTo>
                <a:close/>
              </a:path>
            </a:pathLst>
          </a:custGeom>
          <a:solidFill>
            <a:srgbClr val="27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7" y="1176496"/>
            <a:ext cx="4924425" cy="279042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/>
          <p:nvPr/>
        </p:nvSpPr>
        <p:spPr>
          <a:xfrm>
            <a:off x="5875807" y="478795"/>
            <a:ext cx="1020365" cy="258365"/>
          </a:xfrm>
          <a:custGeom>
            <a:rect b="b" l="l" r="r" t="t"/>
            <a:pathLst>
              <a:path extrusionOk="0" h="413384" w="1632584">
                <a:moveTo>
                  <a:pt x="0" y="72390"/>
                </a:moveTo>
                <a:lnTo>
                  <a:pt x="5685" y="44201"/>
                </a:lnTo>
                <a:lnTo>
                  <a:pt x="21193" y="21193"/>
                </a:lnTo>
                <a:lnTo>
                  <a:pt x="44201" y="5685"/>
                </a:lnTo>
                <a:lnTo>
                  <a:pt x="72390" y="0"/>
                </a:lnTo>
                <a:lnTo>
                  <a:pt x="1559687" y="0"/>
                </a:lnTo>
                <a:lnTo>
                  <a:pt x="1587875" y="5685"/>
                </a:lnTo>
                <a:lnTo>
                  <a:pt x="1610883" y="21193"/>
                </a:lnTo>
                <a:lnTo>
                  <a:pt x="1626391" y="44201"/>
                </a:lnTo>
                <a:lnTo>
                  <a:pt x="1632077" y="72390"/>
                </a:lnTo>
                <a:lnTo>
                  <a:pt x="1632077" y="340741"/>
                </a:lnTo>
                <a:lnTo>
                  <a:pt x="1626391" y="368929"/>
                </a:lnTo>
                <a:lnTo>
                  <a:pt x="1610883" y="391937"/>
                </a:lnTo>
                <a:lnTo>
                  <a:pt x="1587875" y="407445"/>
                </a:lnTo>
                <a:lnTo>
                  <a:pt x="1559687" y="413131"/>
                </a:lnTo>
                <a:lnTo>
                  <a:pt x="72390" y="413131"/>
                </a:lnTo>
                <a:lnTo>
                  <a:pt x="44201" y="407445"/>
                </a:lnTo>
                <a:lnTo>
                  <a:pt x="21193" y="391937"/>
                </a:lnTo>
                <a:lnTo>
                  <a:pt x="5685" y="368929"/>
                </a:lnTo>
                <a:lnTo>
                  <a:pt x="0" y="340741"/>
                </a:lnTo>
                <a:lnTo>
                  <a:pt x="0" y="72390"/>
                </a:lnTo>
                <a:close/>
              </a:path>
            </a:pathLst>
          </a:custGeom>
          <a:noFill/>
          <a:ln cap="flat" cmpd="sng" w="9525">
            <a:solidFill>
              <a:srgbClr val="2B0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43" name="Google Shape;143;p22"/>
          <p:cNvSpPr txBox="1"/>
          <p:nvPr/>
        </p:nvSpPr>
        <p:spPr>
          <a:xfrm>
            <a:off x="5953541" y="542271"/>
            <a:ext cx="864900" cy="1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2B09FF"/>
                </a:solidFill>
                <a:latin typeface="Tahoma"/>
                <a:ea typeface="Tahoma"/>
                <a:cs typeface="Tahoma"/>
                <a:sym typeface="Tahoma"/>
              </a:rPr>
              <a:t>CORE CONCEPT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4" name="Google Shape;144;p22"/>
          <p:cNvSpPr txBox="1"/>
          <p:nvPr>
            <p:ph type="title"/>
          </p:nvPr>
        </p:nvSpPr>
        <p:spPr>
          <a:xfrm>
            <a:off x="5875801" y="780415"/>
            <a:ext cx="20748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Atomic Facts</a:t>
            </a:r>
            <a:endParaRPr sz="2600"/>
          </a:p>
        </p:txBody>
      </p:sp>
      <p:grpSp>
        <p:nvGrpSpPr>
          <p:cNvPr id="145" name="Google Shape;145;p22"/>
          <p:cNvGrpSpPr/>
          <p:nvPr/>
        </p:nvGrpSpPr>
        <p:grpSpPr>
          <a:xfrm>
            <a:off x="5811044" y="2270243"/>
            <a:ext cx="2639616" cy="1184274"/>
            <a:chOff x="9621011" y="3876928"/>
            <a:chExt cx="4223385" cy="1894839"/>
          </a:xfrm>
        </p:grpSpPr>
        <p:sp>
          <p:nvSpPr>
            <p:cNvPr id="146" name="Google Shape;146;p22"/>
            <p:cNvSpPr/>
            <p:nvPr/>
          </p:nvSpPr>
          <p:spPr>
            <a:xfrm>
              <a:off x="9621011" y="3876928"/>
              <a:ext cx="4223385" cy="1894839"/>
            </a:xfrm>
            <a:custGeom>
              <a:rect b="b" l="l" r="r" t="t"/>
              <a:pathLst>
                <a:path extrusionOk="0" h="1894839" w="4223384">
                  <a:moveTo>
                    <a:pt x="4132580" y="0"/>
                  </a:moveTo>
                  <a:lnTo>
                    <a:pt x="90424" y="0"/>
                  </a:lnTo>
                  <a:lnTo>
                    <a:pt x="55239" y="7112"/>
                  </a:lnTo>
                  <a:lnTo>
                    <a:pt x="26495" y="26511"/>
                  </a:lnTo>
                  <a:lnTo>
                    <a:pt x="7110" y="55292"/>
                  </a:lnTo>
                  <a:lnTo>
                    <a:pt x="0" y="90550"/>
                  </a:lnTo>
                  <a:lnTo>
                    <a:pt x="0" y="1804289"/>
                  </a:lnTo>
                  <a:lnTo>
                    <a:pt x="7110" y="1839473"/>
                  </a:lnTo>
                  <a:lnTo>
                    <a:pt x="26495" y="1868217"/>
                  </a:lnTo>
                  <a:lnTo>
                    <a:pt x="55239" y="1887602"/>
                  </a:lnTo>
                  <a:lnTo>
                    <a:pt x="90424" y="1894713"/>
                  </a:lnTo>
                  <a:lnTo>
                    <a:pt x="4132580" y="1894713"/>
                  </a:lnTo>
                  <a:lnTo>
                    <a:pt x="4167838" y="1887602"/>
                  </a:lnTo>
                  <a:lnTo>
                    <a:pt x="4196619" y="1868217"/>
                  </a:lnTo>
                  <a:lnTo>
                    <a:pt x="4216019" y="1839473"/>
                  </a:lnTo>
                  <a:lnTo>
                    <a:pt x="4223131" y="1804289"/>
                  </a:lnTo>
                  <a:lnTo>
                    <a:pt x="4223131" y="90550"/>
                  </a:lnTo>
                  <a:lnTo>
                    <a:pt x="4216018" y="55292"/>
                  </a:lnTo>
                  <a:lnTo>
                    <a:pt x="4196619" y="26511"/>
                  </a:lnTo>
                  <a:lnTo>
                    <a:pt x="4167838" y="7112"/>
                  </a:lnTo>
                  <a:lnTo>
                    <a:pt x="4132580" y="0"/>
                  </a:lnTo>
                  <a:close/>
                </a:path>
              </a:pathLst>
            </a:custGeom>
            <a:solidFill>
              <a:srgbClr val="01224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pic>
          <p:nvPicPr>
            <p:cNvPr id="147" name="Google Shape;147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36403" y="4201426"/>
              <a:ext cx="269316" cy="2153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p22"/>
          <p:cNvSpPr txBox="1"/>
          <p:nvPr/>
        </p:nvSpPr>
        <p:spPr>
          <a:xfrm>
            <a:off x="5875801" y="1569521"/>
            <a:ext cx="2510100" cy="28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12700" marR="0" rtl="0" algn="l">
              <a:lnSpc>
                <a:spcPct val="13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An </a:t>
            </a:r>
            <a:r>
              <a:rPr b="1" lang="en-GB" sz="1000">
                <a:solidFill>
                  <a:srgbClr val="2B09FF"/>
                </a:solidFill>
                <a:latin typeface="Tahoma"/>
                <a:ea typeface="Tahoma"/>
                <a:cs typeface="Tahoma"/>
                <a:sym typeface="Tahoma"/>
              </a:rPr>
              <a:t>atom </a:t>
            </a:r>
            <a:r>
              <a:rPr lang="en-GB" sz="10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is the smallest verifiable unit of knowledge — a self-contained, context- free statement that carries exactly one claim.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444500" marR="228600" rtl="0" algn="l">
              <a:lnSpc>
                <a:spcPct val="13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Example: </a:t>
            </a:r>
            <a:r>
              <a:rPr lang="en-GB" sz="1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"Urease hydrolyzes urea" — independent, unambiguous, and verifiable against domain ontology.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25400" rtl="0" algn="l">
              <a:lnSpc>
                <a:spcPct val="13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Atoms cannot be subdivided without losing meaning. They serve as the foundational building blocks from which all reasoning graphs are constructed.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8005365" y="4811939"/>
            <a:ext cx="1094977" cy="301228"/>
          </a:xfrm>
          <a:custGeom>
            <a:rect b="b" l="l" r="r" t="t"/>
            <a:pathLst>
              <a:path extrusionOk="0" h="481965" w="1751965">
                <a:moveTo>
                  <a:pt x="1751965" y="0"/>
                </a:moveTo>
                <a:lnTo>
                  <a:pt x="0" y="0"/>
                </a:lnTo>
                <a:lnTo>
                  <a:pt x="0" y="481634"/>
                </a:lnTo>
                <a:lnTo>
                  <a:pt x="1751965" y="481634"/>
                </a:lnTo>
                <a:lnTo>
                  <a:pt x="1751965" y="0"/>
                </a:lnTo>
                <a:close/>
              </a:path>
            </a:pathLst>
          </a:custGeom>
          <a:solidFill>
            <a:srgbClr val="27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>
            <a:off x="7931229" y="4698513"/>
            <a:ext cx="1169194" cy="414734"/>
          </a:xfrm>
          <a:custGeom>
            <a:rect b="b" l="l" r="r" t="t"/>
            <a:pathLst>
              <a:path extrusionOk="0" h="663575" w="1870709">
                <a:moveTo>
                  <a:pt x="1870709" y="0"/>
                </a:moveTo>
                <a:lnTo>
                  <a:pt x="0" y="0"/>
                </a:lnTo>
                <a:lnTo>
                  <a:pt x="0" y="663117"/>
                </a:lnTo>
                <a:lnTo>
                  <a:pt x="1870709" y="663117"/>
                </a:lnTo>
                <a:lnTo>
                  <a:pt x="1870709" y="0"/>
                </a:lnTo>
                <a:close/>
              </a:path>
            </a:pathLst>
          </a:custGeom>
          <a:solidFill>
            <a:srgbClr val="27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55" name="Google Shape;155;p23"/>
          <p:cNvSpPr txBox="1"/>
          <p:nvPr>
            <p:ph type="title"/>
          </p:nvPr>
        </p:nvSpPr>
        <p:spPr>
          <a:xfrm>
            <a:off x="488315" y="769741"/>
            <a:ext cx="44160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Atomic Extraction Process</a:t>
            </a:r>
            <a:endParaRPr sz="2800"/>
          </a:p>
        </p:txBody>
      </p:sp>
      <p:sp>
        <p:nvSpPr>
          <p:cNvPr id="156" name="Google Shape;156;p23"/>
          <p:cNvSpPr txBox="1"/>
          <p:nvPr/>
        </p:nvSpPr>
        <p:spPr>
          <a:xfrm>
            <a:off x="488315" y="1764536"/>
            <a:ext cx="7815263" cy="477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Long, compound reasoning passages are systematically decomposed into minimal, unambiguous statements ready for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structured validation.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899" y="2436781"/>
            <a:ext cx="114308" cy="13584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/>
          <p:nvPr/>
        </p:nvSpPr>
        <p:spPr>
          <a:xfrm>
            <a:off x="496117" y="2637948"/>
            <a:ext cx="2622947" cy="19050"/>
          </a:xfrm>
          <a:custGeom>
            <a:rect b="b" l="l" r="r" t="t"/>
            <a:pathLst>
              <a:path extrusionOk="0" h="30479" w="4196715">
                <a:moveTo>
                  <a:pt x="4196334" y="0"/>
                </a:moveTo>
                <a:lnTo>
                  <a:pt x="0" y="0"/>
                </a:lnTo>
                <a:lnTo>
                  <a:pt x="0" y="30479"/>
                </a:lnTo>
                <a:lnTo>
                  <a:pt x="4196334" y="30479"/>
                </a:lnTo>
                <a:lnTo>
                  <a:pt x="4196334" y="0"/>
                </a:lnTo>
                <a:close/>
              </a:path>
            </a:pathLst>
          </a:custGeom>
          <a:solidFill>
            <a:srgbClr val="2B09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59" name="Google Shape;159;p23"/>
          <p:cNvSpPr txBox="1"/>
          <p:nvPr/>
        </p:nvSpPr>
        <p:spPr>
          <a:xfrm>
            <a:off x="488315" y="2731659"/>
            <a:ext cx="2139950" cy="1221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Decompose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381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Break compound sentences into minimal clauses, eliminating conjunctions and embedded dependencies.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0" name="Google Shape;16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2281" y="2436781"/>
            <a:ext cx="136610" cy="13585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/>
          <p:nvPr/>
        </p:nvSpPr>
        <p:spPr>
          <a:xfrm>
            <a:off x="3260566" y="2637948"/>
            <a:ext cx="2622947" cy="19050"/>
          </a:xfrm>
          <a:custGeom>
            <a:rect b="b" l="l" r="r" t="t"/>
            <a:pathLst>
              <a:path extrusionOk="0" h="30479" w="4196715">
                <a:moveTo>
                  <a:pt x="4196334" y="0"/>
                </a:moveTo>
                <a:lnTo>
                  <a:pt x="0" y="0"/>
                </a:lnTo>
                <a:lnTo>
                  <a:pt x="0" y="30479"/>
                </a:lnTo>
                <a:lnTo>
                  <a:pt x="4196334" y="30479"/>
                </a:lnTo>
                <a:lnTo>
                  <a:pt x="4196334" y="0"/>
                </a:lnTo>
                <a:close/>
              </a:path>
            </a:pathLst>
          </a:custGeom>
          <a:solidFill>
            <a:srgbClr val="2B09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62" name="Google Shape;162;p23"/>
          <p:cNvSpPr txBox="1"/>
          <p:nvPr/>
        </p:nvSpPr>
        <p:spPr>
          <a:xfrm>
            <a:off x="3253025" y="2731659"/>
            <a:ext cx="2344341" cy="991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Normalize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383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Standardize medical terminology to ontology-aligned forms, ensuring consistent entity references.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6030977" y="2460927"/>
            <a:ext cx="130174" cy="87709"/>
          </a:xfrm>
          <a:custGeom>
            <a:rect b="b" l="l" r="r" t="t"/>
            <a:pathLst>
              <a:path extrusionOk="0" h="140335" w="208279">
                <a:moveTo>
                  <a:pt x="208162" y="0"/>
                </a:moveTo>
                <a:lnTo>
                  <a:pt x="68168" y="140084"/>
                </a:lnTo>
              </a:path>
              <a:path extrusionOk="0" h="140335" w="208279">
                <a:moveTo>
                  <a:pt x="0" y="71781"/>
                </a:moveTo>
                <a:lnTo>
                  <a:pt x="68168" y="140084"/>
                </a:lnTo>
              </a:path>
            </a:pathLst>
          </a:custGeom>
          <a:noFill/>
          <a:ln cap="flat" cmpd="sng" w="9525">
            <a:solidFill>
              <a:srgbClr val="E4D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64" name="Google Shape;164;p23"/>
          <p:cNvSpPr/>
          <p:nvPr/>
        </p:nvSpPr>
        <p:spPr>
          <a:xfrm>
            <a:off x="6025118" y="2637948"/>
            <a:ext cx="2622947" cy="19050"/>
          </a:xfrm>
          <a:custGeom>
            <a:rect b="b" l="l" r="r" t="t"/>
            <a:pathLst>
              <a:path extrusionOk="0" h="30479" w="4196715">
                <a:moveTo>
                  <a:pt x="4196333" y="0"/>
                </a:moveTo>
                <a:lnTo>
                  <a:pt x="0" y="0"/>
                </a:lnTo>
                <a:lnTo>
                  <a:pt x="0" y="30479"/>
                </a:lnTo>
                <a:lnTo>
                  <a:pt x="4196333" y="30479"/>
                </a:lnTo>
                <a:lnTo>
                  <a:pt x="4196333" y="0"/>
                </a:lnTo>
                <a:close/>
              </a:path>
            </a:pathLst>
          </a:custGeom>
          <a:solidFill>
            <a:srgbClr val="2B09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65" name="Google Shape;165;p23"/>
          <p:cNvSpPr txBox="1"/>
          <p:nvPr/>
        </p:nvSpPr>
        <p:spPr>
          <a:xfrm>
            <a:off x="6017736" y="2731659"/>
            <a:ext cx="2557463" cy="991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Validate Uniqueness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383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Confirm each atom carries exactly one clear meaning before storing for downstream processing.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/>
          <p:nvPr/>
        </p:nvSpPr>
        <p:spPr>
          <a:xfrm>
            <a:off x="7931229" y="4700693"/>
            <a:ext cx="1169194" cy="414734"/>
          </a:xfrm>
          <a:custGeom>
            <a:rect b="b" l="l" r="r" t="t"/>
            <a:pathLst>
              <a:path extrusionOk="0" h="663575" w="1870709">
                <a:moveTo>
                  <a:pt x="1870709" y="0"/>
                </a:moveTo>
                <a:lnTo>
                  <a:pt x="0" y="0"/>
                </a:lnTo>
                <a:lnTo>
                  <a:pt x="0" y="663117"/>
                </a:lnTo>
                <a:lnTo>
                  <a:pt x="1870709" y="663117"/>
                </a:lnTo>
                <a:lnTo>
                  <a:pt x="1870709" y="0"/>
                </a:lnTo>
                <a:close/>
              </a:path>
            </a:pathLst>
          </a:custGeom>
          <a:solidFill>
            <a:srgbClr val="27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71" name="Google Shape;171;p24"/>
          <p:cNvSpPr txBox="1"/>
          <p:nvPr>
            <p:ph type="title"/>
          </p:nvPr>
        </p:nvSpPr>
        <p:spPr>
          <a:xfrm>
            <a:off x="496115" y="209165"/>
            <a:ext cx="19815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SPO Triples</a:t>
            </a:r>
            <a:endParaRPr sz="2800"/>
          </a:p>
        </p:txBody>
      </p:sp>
      <p:grpSp>
        <p:nvGrpSpPr>
          <p:cNvPr id="172" name="Google Shape;172;p24"/>
          <p:cNvGrpSpPr/>
          <p:nvPr/>
        </p:nvGrpSpPr>
        <p:grpSpPr>
          <a:xfrm>
            <a:off x="496118" y="1294447"/>
            <a:ext cx="2135981" cy="276224"/>
            <a:chOff x="793788" y="2071115"/>
            <a:chExt cx="3417570" cy="441959"/>
          </a:xfrm>
        </p:grpSpPr>
        <p:sp>
          <p:nvSpPr>
            <p:cNvPr id="173" name="Google Shape;173;p24"/>
            <p:cNvSpPr/>
            <p:nvPr/>
          </p:nvSpPr>
          <p:spPr>
            <a:xfrm>
              <a:off x="793788" y="2071115"/>
              <a:ext cx="3417570" cy="441959"/>
            </a:xfrm>
            <a:custGeom>
              <a:rect b="b" l="l" r="r" t="t"/>
              <a:pathLst>
                <a:path extrusionOk="0" h="441960" w="3417570">
                  <a:moveTo>
                    <a:pt x="0" y="76200"/>
                  </a:moveTo>
                  <a:lnTo>
                    <a:pt x="5989" y="46505"/>
                  </a:lnTo>
                  <a:lnTo>
                    <a:pt x="22323" y="22288"/>
                  </a:lnTo>
                  <a:lnTo>
                    <a:pt x="46548" y="5976"/>
                  </a:lnTo>
                  <a:lnTo>
                    <a:pt x="76212" y="0"/>
                  </a:lnTo>
                  <a:lnTo>
                    <a:pt x="3341077" y="0"/>
                  </a:lnTo>
                  <a:lnTo>
                    <a:pt x="3370772" y="5976"/>
                  </a:lnTo>
                  <a:lnTo>
                    <a:pt x="3394989" y="22288"/>
                  </a:lnTo>
                  <a:lnTo>
                    <a:pt x="3411300" y="46505"/>
                  </a:lnTo>
                  <a:lnTo>
                    <a:pt x="3417277" y="76200"/>
                  </a:lnTo>
                  <a:lnTo>
                    <a:pt x="3417277" y="365251"/>
                  </a:lnTo>
                  <a:lnTo>
                    <a:pt x="3411300" y="394892"/>
                  </a:lnTo>
                  <a:lnTo>
                    <a:pt x="3394989" y="419115"/>
                  </a:lnTo>
                  <a:lnTo>
                    <a:pt x="3370772" y="435457"/>
                  </a:lnTo>
                  <a:lnTo>
                    <a:pt x="3341077" y="441451"/>
                  </a:lnTo>
                  <a:lnTo>
                    <a:pt x="76212" y="441451"/>
                  </a:lnTo>
                  <a:lnTo>
                    <a:pt x="46548" y="435457"/>
                  </a:lnTo>
                  <a:lnTo>
                    <a:pt x="22323" y="419115"/>
                  </a:lnTo>
                  <a:lnTo>
                    <a:pt x="5989" y="394892"/>
                  </a:lnTo>
                  <a:lnTo>
                    <a:pt x="0" y="365251"/>
                  </a:lnTo>
                  <a:lnTo>
                    <a:pt x="0" y="76200"/>
                  </a:lnTo>
                  <a:close/>
                </a:path>
              </a:pathLst>
            </a:custGeom>
            <a:noFill/>
            <a:ln cap="flat" cmpd="sng" w="9525">
              <a:solidFill>
                <a:srgbClr val="2B09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pic>
          <p:nvPicPr>
            <p:cNvPr id="174" name="Google Shape;174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0778" y="2204885"/>
              <a:ext cx="154969" cy="1738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5" name="Google Shape;175;p24"/>
          <p:cNvGrpSpPr/>
          <p:nvPr/>
        </p:nvGrpSpPr>
        <p:grpSpPr>
          <a:xfrm>
            <a:off x="496118" y="2569766"/>
            <a:ext cx="3903266" cy="829469"/>
            <a:chOff x="793788" y="4111625"/>
            <a:chExt cx="6245225" cy="1327150"/>
          </a:xfrm>
        </p:grpSpPr>
        <p:sp>
          <p:nvSpPr>
            <p:cNvPr id="176" name="Google Shape;176;p24"/>
            <p:cNvSpPr/>
            <p:nvPr/>
          </p:nvSpPr>
          <p:spPr>
            <a:xfrm>
              <a:off x="793788" y="4111625"/>
              <a:ext cx="6245225" cy="1327150"/>
            </a:xfrm>
            <a:custGeom>
              <a:rect b="b" l="l" r="r" t="t"/>
              <a:pathLst>
                <a:path extrusionOk="0" h="1327150" w="6245225">
                  <a:moveTo>
                    <a:pt x="6149428" y="0"/>
                  </a:moveTo>
                  <a:lnTo>
                    <a:pt x="95275" y="0"/>
                  </a:lnTo>
                  <a:lnTo>
                    <a:pt x="58191" y="7489"/>
                  </a:lnTo>
                  <a:lnTo>
                    <a:pt x="27906" y="27908"/>
                  </a:lnTo>
                  <a:lnTo>
                    <a:pt x="7487" y="58185"/>
                  </a:lnTo>
                  <a:lnTo>
                    <a:pt x="0" y="95250"/>
                  </a:lnTo>
                  <a:lnTo>
                    <a:pt x="0" y="1231392"/>
                  </a:lnTo>
                  <a:lnTo>
                    <a:pt x="7487" y="1268456"/>
                  </a:lnTo>
                  <a:lnTo>
                    <a:pt x="27906" y="1298733"/>
                  </a:lnTo>
                  <a:lnTo>
                    <a:pt x="58191" y="1319152"/>
                  </a:lnTo>
                  <a:lnTo>
                    <a:pt x="95275" y="1326642"/>
                  </a:lnTo>
                  <a:lnTo>
                    <a:pt x="6149428" y="1326642"/>
                  </a:lnTo>
                  <a:lnTo>
                    <a:pt x="6186493" y="1319152"/>
                  </a:lnTo>
                  <a:lnTo>
                    <a:pt x="6216770" y="1298733"/>
                  </a:lnTo>
                  <a:lnTo>
                    <a:pt x="6237189" y="1268456"/>
                  </a:lnTo>
                  <a:lnTo>
                    <a:pt x="6244678" y="1231392"/>
                  </a:lnTo>
                  <a:lnTo>
                    <a:pt x="6244678" y="95250"/>
                  </a:lnTo>
                  <a:lnTo>
                    <a:pt x="6237189" y="58185"/>
                  </a:lnTo>
                  <a:lnTo>
                    <a:pt x="6216770" y="27908"/>
                  </a:lnTo>
                  <a:lnTo>
                    <a:pt x="6186493" y="7489"/>
                  </a:lnTo>
                  <a:lnTo>
                    <a:pt x="6149428" y="0"/>
                  </a:lnTo>
                  <a:close/>
                </a:path>
              </a:pathLst>
            </a:custGeom>
            <a:solidFill>
              <a:srgbClr val="01224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pic>
          <p:nvPicPr>
            <p:cNvPr id="177" name="Google Shape;177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610" y="4455680"/>
              <a:ext cx="283489" cy="2268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" name="Google Shape;178;p24"/>
          <p:cNvSpPr txBox="1"/>
          <p:nvPr/>
        </p:nvSpPr>
        <p:spPr>
          <a:xfrm>
            <a:off x="488315" y="1359503"/>
            <a:ext cx="3876000" cy="28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25">
            <a:spAutoFit/>
          </a:bodyPr>
          <a:lstStyle/>
          <a:p>
            <a:pPr indent="0" lvl="0" marL="266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2B09FF"/>
                </a:solidFill>
                <a:latin typeface="Tahoma"/>
                <a:ea typeface="Tahoma"/>
                <a:cs typeface="Tahoma"/>
                <a:sym typeface="Tahoma"/>
              </a:rPr>
              <a:t>STRUCTURED REPRESENTATION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Each atomic fact is converted into a standardized </a:t>
            </a:r>
            <a:r>
              <a:rPr b="1" lang="en-GB" sz="1100">
                <a:solidFill>
                  <a:srgbClr val="2B09FF"/>
                </a:solidFill>
                <a:latin typeface="Tahoma"/>
                <a:ea typeface="Tahoma"/>
                <a:cs typeface="Tahoma"/>
                <a:sym typeface="Tahoma"/>
              </a:rPr>
              <a:t>Subject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419100" rtl="0" algn="l">
              <a:lnSpc>
                <a:spcPct val="138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B09FF"/>
                </a:solidFill>
                <a:latin typeface="Tahoma"/>
                <a:ea typeface="Tahoma"/>
                <a:cs typeface="Tahoma"/>
                <a:sym typeface="Tahoma"/>
              </a:rPr>
              <a:t>→ Predicate → Object </a:t>
            </a: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triple — the universal form for machine-readable knowledge representation.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Example Triple:S: </a:t>
            </a:r>
            <a:r>
              <a:rPr lang="en-GB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H. pylori → </a:t>
            </a:r>
            <a:r>
              <a:rPr b="1" lang="en-GB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P: </a:t>
            </a:r>
            <a:r>
              <a:rPr lang="en-GB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enables</a:t>
            </a:r>
            <a:r>
              <a:rPr lang="en-GB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→ </a:t>
            </a:r>
            <a:r>
              <a:rPr b="1" lang="en-GB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O: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urease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38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This normalization strips away linguistic variation, enabling consistent graph-based processing and ontology validation regardless of how the original reasoning was phrased.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79" name="Google Shape;17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9721" y="620236"/>
            <a:ext cx="3902948" cy="3902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type="title"/>
          </p:nvPr>
        </p:nvSpPr>
        <p:spPr>
          <a:xfrm>
            <a:off x="4152211" y="3"/>
            <a:ext cx="36654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Graph Representation</a:t>
            </a:r>
            <a:endParaRPr sz="2800"/>
          </a:p>
        </p:txBody>
      </p:sp>
      <p:sp>
        <p:nvSpPr>
          <p:cNvPr id="185" name="Google Shape;185;p25"/>
          <p:cNvSpPr txBox="1"/>
          <p:nvPr/>
        </p:nvSpPr>
        <p:spPr>
          <a:xfrm>
            <a:off x="4152200" y="976475"/>
            <a:ext cx="47448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marR="0" rtl="0" algn="l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SPO triples are assembled into a </a:t>
            </a:r>
            <a:r>
              <a:rPr b="1" lang="en-GB" sz="1100">
                <a:solidFill>
                  <a:srgbClr val="2B09FF"/>
                </a:solidFill>
                <a:latin typeface="Tahoma"/>
                <a:ea typeface="Tahoma"/>
                <a:cs typeface="Tahoma"/>
                <a:sym typeface="Tahoma"/>
              </a:rPr>
              <a:t>directed knowledge graph </a:t>
            </a: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— an interpretable structure that mirrors the reasoning chain from clinical premise to diagnostic conclusion.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86" name="Google Shape;186;p25"/>
          <p:cNvGrpSpPr/>
          <p:nvPr/>
        </p:nvGrpSpPr>
        <p:grpSpPr>
          <a:xfrm>
            <a:off x="4152206" y="1926921"/>
            <a:ext cx="2290763" cy="1506934"/>
            <a:chOff x="6280150" y="3149854"/>
            <a:chExt cx="3665220" cy="2411095"/>
          </a:xfrm>
        </p:grpSpPr>
        <p:sp>
          <p:nvSpPr>
            <p:cNvPr id="187" name="Google Shape;187;p25"/>
            <p:cNvSpPr/>
            <p:nvPr/>
          </p:nvSpPr>
          <p:spPr>
            <a:xfrm>
              <a:off x="6280150" y="3149854"/>
              <a:ext cx="3665220" cy="2411095"/>
            </a:xfrm>
            <a:custGeom>
              <a:rect b="b" l="l" r="r" t="t"/>
              <a:pathLst>
                <a:path extrusionOk="0" h="2411095" w="3665220">
                  <a:moveTo>
                    <a:pt x="3569461" y="0"/>
                  </a:moveTo>
                  <a:lnTo>
                    <a:pt x="95376" y="0"/>
                  </a:lnTo>
                  <a:lnTo>
                    <a:pt x="58239" y="7471"/>
                  </a:lnTo>
                  <a:lnTo>
                    <a:pt x="27924" y="27860"/>
                  </a:lnTo>
                  <a:lnTo>
                    <a:pt x="7491" y="58132"/>
                  </a:lnTo>
                  <a:lnTo>
                    <a:pt x="0" y="95250"/>
                  </a:lnTo>
                  <a:lnTo>
                    <a:pt x="0" y="2315591"/>
                  </a:lnTo>
                  <a:lnTo>
                    <a:pt x="7491" y="2352655"/>
                  </a:lnTo>
                  <a:lnTo>
                    <a:pt x="27924" y="2382932"/>
                  </a:lnTo>
                  <a:lnTo>
                    <a:pt x="58239" y="2403351"/>
                  </a:lnTo>
                  <a:lnTo>
                    <a:pt x="95376" y="2410841"/>
                  </a:lnTo>
                  <a:lnTo>
                    <a:pt x="3569461" y="2410841"/>
                  </a:lnTo>
                  <a:lnTo>
                    <a:pt x="3606599" y="2403351"/>
                  </a:lnTo>
                  <a:lnTo>
                    <a:pt x="3636914" y="2382932"/>
                  </a:lnTo>
                  <a:lnTo>
                    <a:pt x="3657347" y="2352655"/>
                  </a:lnTo>
                  <a:lnTo>
                    <a:pt x="3664839" y="2315591"/>
                  </a:lnTo>
                  <a:lnTo>
                    <a:pt x="3664839" y="95250"/>
                  </a:lnTo>
                  <a:lnTo>
                    <a:pt x="3657347" y="58132"/>
                  </a:lnTo>
                  <a:lnTo>
                    <a:pt x="3636914" y="27860"/>
                  </a:lnTo>
                  <a:lnTo>
                    <a:pt x="3606599" y="7471"/>
                  </a:lnTo>
                  <a:lnTo>
                    <a:pt x="3569461" y="0"/>
                  </a:lnTo>
                  <a:close/>
                </a:path>
              </a:pathLst>
            </a:custGeom>
            <a:solidFill>
              <a:srgbClr val="11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188" name="Google Shape;188;p25"/>
            <p:cNvSpPr/>
            <p:nvPr/>
          </p:nvSpPr>
          <p:spPr>
            <a:xfrm>
              <a:off x="6280150" y="3149854"/>
              <a:ext cx="3665220" cy="2411095"/>
            </a:xfrm>
            <a:custGeom>
              <a:rect b="b" l="l" r="r" t="t"/>
              <a:pathLst>
                <a:path extrusionOk="0" h="2411095" w="3665220">
                  <a:moveTo>
                    <a:pt x="0" y="95250"/>
                  </a:moveTo>
                  <a:lnTo>
                    <a:pt x="7491" y="58132"/>
                  </a:lnTo>
                  <a:lnTo>
                    <a:pt x="27924" y="27860"/>
                  </a:lnTo>
                  <a:lnTo>
                    <a:pt x="58239" y="7471"/>
                  </a:lnTo>
                  <a:lnTo>
                    <a:pt x="95376" y="0"/>
                  </a:lnTo>
                  <a:lnTo>
                    <a:pt x="3569461" y="0"/>
                  </a:lnTo>
                  <a:lnTo>
                    <a:pt x="3606599" y="7471"/>
                  </a:lnTo>
                  <a:lnTo>
                    <a:pt x="3636914" y="27860"/>
                  </a:lnTo>
                  <a:lnTo>
                    <a:pt x="3657347" y="58132"/>
                  </a:lnTo>
                  <a:lnTo>
                    <a:pt x="3664839" y="95250"/>
                  </a:lnTo>
                  <a:lnTo>
                    <a:pt x="3664839" y="2315591"/>
                  </a:lnTo>
                  <a:lnTo>
                    <a:pt x="3657347" y="2352655"/>
                  </a:lnTo>
                  <a:lnTo>
                    <a:pt x="3636914" y="2382932"/>
                  </a:lnTo>
                  <a:lnTo>
                    <a:pt x="3606599" y="2403351"/>
                  </a:lnTo>
                  <a:lnTo>
                    <a:pt x="3569461" y="2410841"/>
                  </a:lnTo>
                  <a:lnTo>
                    <a:pt x="95376" y="2410841"/>
                  </a:lnTo>
                  <a:lnTo>
                    <a:pt x="58239" y="2403351"/>
                  </a:lnTo>
                  <a:lnTo>
                    <a:pt x="27924" y="2382932"/>
                  </a:lnTo>
                  <a:lnTo>
                    <a:pt x="7491" y="2352655"/>
                  </a:lnTo>
                  <a:lnTo>
                    <a:pt x="0" y="2315591"/>
                  </a:lnTo>
                  <a:lnTo>
                    <a:pt x="0" y="95250"/>
                  </a:lnTo>
                  <a:close/>
                </a:path>
              </a:pathLst>
            </a:custGeom>
            <a:noFill/>
            <a:ln cap="flat" cmpd="sng" w="9525">
              <a:solidFill>
                <a:srgbClr val="2A18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</p:grpSp>
      <p:sp>
        <p:nvSpPr>
          <p:cNvPr id="189" name="Google Shape;189;p25"/>
          <p:cNvSpPr txBox="1"/>
          <p:nvPr/>
        </p:nvSpPr>
        <p:spPr>
          <a:xfrm>
            <a:off x="4305200" y="2159354"/>
            <a:ext cx="19848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Nodes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383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Represent domain entities: bacteria, enzymes, diagnostic tests, clinical findings.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0" name="Google Shape;190;p25"/>
          <p:cNvGrpSpPr/>
          <p:nvPr/>
        </p:nvGrpSpPr>
        <p:grpSpPr>
          <a:xfrm>
            <a:off x="6606377" y="1926921"/>
            <a:ext cx="2290763" cy="1506934"/>
            <a:chOff x="10171683" y="3149854"/>
            <a:chExt cx="3665220" cy="2411095"/>
          </a:xfrm>
        </p:grpSpPr>
        <p:sp>
          <p:nvSpPr>
            <p:cNvPr id="191" name="Google Shape;191;p25"/>
            <p:cNvSpPr/>
            <p:nvPr/>
          </p:nvSpPr>
          <p:spPr>
            <a:xfrm>
              <a:off x="10171683" y="3149854"/>
              <a:ext cx="3665220" cy="2411095"/>
            </a:xfrm>
            <a:custGeom>
              <a:rect b="b" l="l" r="r" t="t"/>
              <a:pathLst>
                <a:path extrusionOk="0" h="2411095" w="3665219">
                  <a:moveTo>
                    <a:pt x="3569589" y="0"/>
                  </a:moveTo>
                  <a:lnTo>
                    <a:pt x="95376" y="0"/>
                  </a:lnTo>
                  <a:lnTo>
                    <a:pt x="58239" y="7471"/>
                  </a:lnTo>
                  <a:lnTo>
                    <a:pt x="27924" y="27860"/>
                  </a:lnTo>
                  <a:lnTo>
                    <a:pt x="7491" y="58132"/>
                  </a:lnTo>
                  <a:lnTo>
                    <a:pt x="0" y="95250"/>
                  </a:lnTo>
                  <a:lnTo>
                    <a:pt x="0" y="2315591"/>
                  </a:lnTo>
                  <a:lnTo>
                    <a:pt x="7491" y="2352655"/>
                  </a:lnTo>
                  <a:lnTo>
                    <a:pt x="27924" y="2382932"/>
                  </a:lnTo>
                  <a:lnTo>
                    <a:pt x="58239" y="2403351"/>
                  </a:lnTo>
                  <a:lnTo>
                    <a:pt x="95376" y="2410841"/>
                  </a:lnTo>
                  <a:lnTo>
                    <a:pt x="3569589" y="2410841"/>
                  </a:lnTo>
                  <a:lnTo>
                    <a:pt x="3606726" y="2403351"/>
                  </a:lnTo>
                  <a:lnTo>
                    <a:pt x="3637041" y="2382932"/>
                  </a:lnTo>
                  <a:lnTo>
                    <a:pt x="3657474" y="2352655"/>
                  </a:lnTo>
                  <a:lnTo>
                    <a:pt x="3664966" y="2315591"/>
                  </a:lnTo>
                  <a:lnTo>
                    <a:pt x="3664966" y="95250"/>
                  </a:lnTo>
                  <a:lnTo>
                    <a:pt x="3657474" y="58132"/>
                  </a:lnTo>
                  <a:lnTo>
                    <a:pt x="3637041" y="27860"/>
                  </a:lnTo>
                  <a:lnTo>
                    <a:pt x="3606726" y="7471"/>
                  </a:lnTo>
                  <a:lnTo>
                    <a:pt x="3569589" y="0"/>
                  </a:lnTo>
                  <a:close/>
                </a:path>
              </a:pathLst>
            </a:custGeom>
            <a:solidFill>
              <a:srgbClr val="11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192" name="Google Shape;192;p25"/>
            <p:cNvSpPr/>
            <p:nvPr/>
          </p:nvSpPr>
          <p:spPr>
            <a:xfrm>
              <a:off x="10171683" y="3149854"/>
              <a:ext cx="3665220" cy="2411095"/>
            </a:xfrm>
            <a:custGeom>
              <a:rect b="b" l="l" r="r" t="t"/>
              <a:pathLst>
                <a:path extrusionOk="0" h="2411095" w="3665219">
                  <a:moveTo>
                    <a:pt x="0" y="95250"/>
                  </a:moveTo>
                  <a:lnTo>
                    <a:pt x="7491" y="58132"/>
                  </a:lnTo>
                  <a:lnTo>
                    <a:pt x="27924" y="27860"/>
                  </a:lnTo>
                  <a:lnTo>
                    <a:pt x="58239" y="7471"/>
                  </a:lnTo>
                  <a:lnTo>
                    <a:pt x="95376" y="0"/>
                  </a:lnTo>
                  <a:lnTo>
                    <a:pt x="3569589" y="0"/>
                  </a:lnTo>
                  <a:lnTo>
                    <a:pt x="3606726" y="7471"/>
                  </a:lnTo>
                  <a:lnTo>
                    <a:pt x="3637041" y="27860"/>
                  </a:lnTo>
                  <a:lnTo>
                    <a:pt x="3657474" y="58132"/>
                  </a:lnTo>
                  <a:lnTo>
                    <a:pt x="3664966" y="95250"/>
                  </a:lnTo>
                  <a:lnTo>
                    <a:pt x="3664966" y="2315591"/>
                  </a:lnTo>
                  <a:lnTo>
                    <a:pt x="3657474" y="2352655"/>
                  </a:lnTo>
                  <a:lnTo>
                    <a:pt x="3637041" y="2382932"/>
                  </a:lnTo>
                  <a:lnTo>
                    <a:pt x="3606726" y="2403351"/>
                  </a:lnTo>
                  <a:lnTo>
                    <a:pt x="3569589" y="2410841"/>
                  </a:lnTo>
                  <a:lnTo>
                    <a:pt x="95376" y="2410841"/>
                  </a:lnTo>
                  <a:lnTo>
                    <a:pt x="58239" y="2403351"/>
                  </a:lnTo>
                  <a:lnTo>
                    <a:pt x="27924" y="2382932"/>
                  </a:lnTo>
                  <a:lnTo>
                    <a:pt x="7491" y="2352655"/>
                  </a:lnTo>
                  <a:lnTo>
                    <a:pt x="0" y="2315591"/>
                  </a:lnTo>
                  <a:lnTo>
                    <a:pt x="0" y="95250"/>
                  </a:lnTo>
                  <a:close/>
                </a:path>
              </a:pathLst>
            </a:custGeom>
            <a:noFill/>
            <a:ln cap="flat" cmpd="sng" w="9525">
              <a:solidFill>
                <a:srgbClr val="2A18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</p:grpSp>
      <p:sp>
        <p:nvSpPr>
          <p:cNvPr id="193" name="Google Shape;193;p25"/>
          <p:cNvSpPr txBox="1"/>
          <p:nvPr/>
        </p:nvSpPr>
        <p:spPr>
          <a:xfrm>
            <a:off x="6822476" y="2069791"/>
            <a:ext cx="1858500" cy="11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Edges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381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Directed relationships between entities, derived from predicate assertions in SPO triples.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4" name="Google Shape;194;p25"/>
          <p:cNvGrpSpPr/>
          <p:nvPr/>
        </p:nvGrpSpPr>
        <p:grpSpPr>
          <a:xfrm>
            <a:off x="4152194" y="3617198"/>
            <a:ext cx="4722813" cy="1053306"/>
            <a:chOff x="6280150" y="5787517"/>
            <a:chExt cx="7556500" cy="1685289"/>
          </a:xfrm>
        </p:grpSpPr>
        <p:sp>
          <p:nvSpPr>
            <p:cNvPr id="195" name="Google Shape;195;p25"/>
            <p:cNvSpPr/>
            <p:nvPr/>
          </p:nvSpPr>
          <p:spPr>
            <a:xfrm>
              <a:off x="6280150" y="5787517"/>
              <a:ext cx="7556500" cy="1685289"/>
            </a:xfrm>
            <a:custGeom>
              <a:rect b="b" l="l" r="r" t="t"/>
              <a:pathLst>
                <a:path extrusionOk="0" h="1685290" w="7556500">
                  <a:moveTo>
                    <a:pt x="7461250" y="0"/>
                  </a:moveTo>
                  <a:lnTo>
                    <a:pt x="95250" y="0"/>
                  </a:lnTo>
                  <a:lnTo>
                    <a:pt x="58185" y="7489"/>
                  </a:lnTo>
                  <a:lnTo>
                    <a:pt x="27908" y="27908"/>
                  </a:lnTo>
                  <a:lnTo>
                    <a:pt x="7489" y="58185"/>
                  </a:lnTo>
                  <a:lnTo>
                    <a:pt x="0" y="95249"/>
                  </a:lnTo>
                  <a:lnTo>
                    <a:pt x="0" y="1589811"/>
                  </a:lnTo>
                  <a:lnTo>
                    <a:pt x="7489" y="1626895"/>
                  </a:lnTo>
                  <a:lnTo>
                    <a:pt x="27908" y="1657180"/>
                  </a:lnTo>
                  <a:lnTo>
                    <a:pt x="58185" y="1677599"/>
                  </a:lnTo>
                  <a:lnTo>
                    <a:pt x="95250" y="1685086"/>
                  </a:lnTo>
                  <a:lnTo>
                    <a:pt x="7461250" y="1685086"/>
                  </a:lnTo>
                  <a:lnTo>
                    <a:pt x="7498314" y="1677599"/>
                  </a:lnTo>
                  <a:lnTo>
                    <a:pt x="7528591" y="1657180"/>
                  </a:lnTo>
                  <a:lnTo>
                    <a:pt x="7549010" y="1626895"/>
                  </a:lnTo>
                  <a:lnTo>
                    <a:pt x="7556500" y="1589811"/>
                  </a:lnTo>
                  <a:lnTo>
                    <a:pt x="7556500" y="95249"/>
                  </a:lnTo>
                  <a:lnTo>
                    <a:pt x="7549010" y="58185"/>
                  </a:lnTo>
                  <a:lnTo>
                    <a:pt x="7528591" y="27908"/>
                  </a:lnTo>
                  <a:lnTo>
                    <a:pt x="7498314" y="7489"/>
                  </a:lnTo>
                  <a:lnTo>
                    <a:pt x="7461250" y="0"/>
                  </a:lnTo>
                  <a:close/>
                </a:path>
              </a:pathLst>
            </a:custGeom>
            <a:solidFill>
              <a:srgbClr val="11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196" name="Google Shape;196;p25"/>
            <p:cNvSpPr/>
            <p:nvPr/>
          </p:nvSpPr>
          <p:spPr>
            <a:xfrm>
              <a:off x="6280150" y="5787517"/>
              <a:ext cx="7556500" cy="1685289"/>
            </a:xfrm>
            <a:custGeom>
              <a:rect b="b" l="l" r="r" t="t"/>
              <a:pathLst>
                <a:path extrusionOk="0" h="1685290" w="7556500">
                  <a:moveTo>
                    <a:pt x="0" y="95249"/>
                  </a:move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50" y="0"/>
                  </a:lnTo>
                  <a:lnTo>
                    <a:pt x="7461250" y="0"/>
                  </a:lnTo>
                  <a:lnTo>
                    <a:pt x="7498314" y="7489"/>
                  </a:lnTo>
                  <a:lnTo>
                    <a:pt x="7528591" y="27908"/>
                  </a:lnTo>
                  <a:lnTo>
                    <a:pt x="7549010" y="58185"/>
                  </a:lnTo>
                  <a:lnTo>
                    <a:pt x="7556500" y="95249"/>
                  </a:lnTo>
                  <a:lnTo>
                    <a:pt x="7556500" y="1589811"/>
                  </a:lnTo>
                  <a:lnTo>
                    <a:pt x="7549010" y="1626895"/>
                  </a:lnTo>
                  <a:lnTo>
                    <a:pt x="7528591" y="1657180"/>
                  </a:lnTo>
                  <a:lnTo>
                    <a:pt x="7498314" y="1677599"/>
                  </a:lnTo>
                  <a:lnTo>
                    <a:pt x="7461250" y="1685086"/>
                  </a:lnTo>
                  <a:lnTo>
                    <a:pt x="95250" y="1685086"/>
                  </a:lnTo>
                  <a:lnTo>
                    <a:pt x="58185" y="1677599"/>
                  </a:lnTo>
                  <a:lnTo>
                    <a:pt x="27908" y="1657180"/>
                  </a:lnTo>
                  <a:lnTo>
                    <a:pt x="7489" y="1626895"/>
                  </a:lnTo>
                  <a:lnTo>
                    <a:pt x="0" y="1589811"/>
                  </a:lnTo>
                  <a:lnTo>
                    <a:pt x="0" y="95249"/>
                  </a:lnTo>
                  <a:close/>
                </a:path>
              </a:pathLst>
            </a:custGeom>
            <a:noFill/>
            <a:ln cap="flat" cmpd="sng" w="9525">
              <a:solidFill>
                <a:srgbClr val="2A18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</p:grpSp>
      <p:sp>
        <p:nvSpPr>
          <p:cNvPr id="197" name="Google Shape;197;p25"/>
          <p:cNvSpPr txBox="1"/>
          <p:nvPr/>
        </p:nvSpPr>
        <p:spPr>
          <a:xfrm>
            <a:off x="4305200" y="3763443"/>
            <a:ext cx="41922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Traversal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Graph paths enable automated validation of reasoning flow and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detection of disconnected logic.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7931229" y="4698513"/>
            <a:ext cx="1169194" cy="414734"/>
          </a:xfrm>
          <a:custGeom>
            <a:rect b="b" l="l" r="r" t="t"/>
            <a:pathLst>
              <a:path extrusionOk="0" h="663575" w="1870709">
                <a:moveTo>
                  <a:pt x="1870709" y="0"/>
                </a:moveTo>
                <a:lnTo>
                  <a:pt x="0" y="0"/>
                </a:lnTo>
                <a:lnTo>
                  <a:pt x="0" y="663117"/>
                </a:lnTo>
                <a:lnTo>
                  <a:pt x="1870709" y="663117"/>
                </a:lnTo>
                <a:lnTo>
                  <a:pt x="1870709" y="0"/>
                </a:lnTo>
                <a:close/>
              </a:path>
            </a:pathLst>
          </a:custGeom>
          <a:solidFill>
            <a:srgbClr val="27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199" name="Google Shape;19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0700"/>
            <a:ext cx="3897426" cy="4390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/>
          <p:nvPr/>
        </p:nvSpPr>
        <p:spPr>
          <a:xfrm>
            <a:off x="7961709" y="4791072"/>
            <a:ext cx="1138634" cy="322263"/>
          </a:xfrm>
          <a:custGeom>
            <a:rect b="b" l="l" r="r" t="t"/>
            <a:pathLst>
              <a:path extrusionOk="0" h="515620" w="1821815">
                <a:moveTo>
                  <a:pt x="1821815" y="0"/>
                </a:moveTo>
                <a:lnTo>
                  <a:pt x="0" y="0"/>
                </a:lnTo>
                <a:lnTo>
                  <a:pt x="0" y="515023"/>
                </a:lnTo>
                <a:lnTo>
                  <a:pt x="1821815" y="515023"/>
                </a:lnTo>
                <a:lnTo>
                  <a:pt x="1821815" y="0"/>
                </a:lnTo>
                <a:close/>
              </a:path>
            </a:pathLst>
          </a:custGeom>
          <a:solidFill>
            <a:srgbClr val="27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05" name="Google Shape;205;p26"/>
          <p:cNvSpPr txBox="1"/>
          <p:nvPr>
            <p:ph type="title"/>
          </p:nvPr>
        </p:nvSpPr>
        <p:spPr>
          <a:xfrm>
            <a:off x="488326" y="268872"/>
            <a:ext cx="3708900" cy="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Reasoning Validat</a:t>
            </a:r>
            <a:r>
              <a:rPr lang="en-GB" sz="2800"/>
              <a:t>ion</a:t>
            </a:r>
            <a:endParaRPr sz="2800"/>
          </a:p>
        </p:txBody>
      </p:sp>
      <p:sp>
        <p:nvSpPr>
          <p:cNvPr id="206" name="Google Shape;206;p26"/>
          <p:cNvSpPr txBox="1"/>
          <p:nvPr/>
        </p:nvSpPr>
        <p:spPr>
          <a:xfrm>
            <a:off x="488315" y="1189514"/>
            <a:ext cx="7820422" cy="182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The validator interrogates the constructed graph against formal logical and ontological criteria before issuing a verdict.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07" name="Google Shape;207;p26"/>
          <p:cNvGrpSpPr/>
          <p:nvPr/>
        </p:nvGrpSpPr>
        <p:grpSpPr>
          <a:xfrm>
            <a:off x="496118" y="1550194"/>
            <a:ext cx="4005263" cy="1507331"/>
            <a:chOff x="793788" y="2480310"/>
            <a:chExt cx="6408420" cy="2411730"/>
          </a:xfrm>
        </p:grpSpPr>
        <p:sp>
          <p:nvSpPr>
            <p:cNvPr id="208" name="Google Shape;208;p26"/>
            <p:cNvSpPr/>
            <p:nvPr/>
          </p:nvSpPr>
          <p:spPr>
            <a:xfrm>
              <a:off x="793788" y="2480310"/>
              <a:ext cx="6408420" cy="2411730"/>
            </a:xfrm>
            <a:custGeom>
              <a:rect b="b" l="l" r="r" t="t"/>
              <a:pathLst>
                <a:path extrusionOk="0" h="2411729" w="6408420">
                  <a:moveTo>
                    <a:pt x="6312623" y="0"/>
                  </a:moveTo>
                  <a:lnTo>
                    <a:pt x="95275" y="0"/>
                  </a:lnTo>
                  <a:lnTo>
                    <a:pt x="58191" y="7489"/>
                  </a:lnTo>
                  <a:lnTo>
                    <a:pt x="27906" y="27908"/>
                  </a:lnTo>
                  <a:lnTo>
                    <a:pt x="7487" y="58185"/>
                  </a:lnTo>
                  <a:lnTo>
                    <a:pt x="0" y="95250"/>
                  </a:lnTo>
                  <a:lnTo>
                    <a:pt x="0" y="2315972"/>
                  </a:lnTo>
                  <a:lnTo>
                    <a:pt x="7487" y="2353036"/>
                  </a:lnTo>
                  <a:lnTo>
                    <a:pt x="27906" y="2383313"/>
                  </a:lnTo>
                  <a:lnTo>
                    <a:pt x="58191" y="2403732"/>
                  </a:lnTo>
                  <a:lnTo>
                    <a:pt x="95275" y="2411222"/>
                  </a:lnTo>
                  <a:lnTo>
                    <a:pt x="6312623" y="2411222"/>
                  </a:lnTo>
                  <a:lnTo>
                    <a:pt x="6349761" y="2403732"/>
                  </a:lnTo>
                  <a:lnTo>
                    <a:pt x="6380076" y="2383313"/>
                  </a:lnTo>
                  <a:lnTo>
                    <a:pt x="6400509" y="2353036"/>
                  </a:lnTo>
                  <a:lnTo>
                    <a:pt x="6408000" y="2315972"/>
                  </a:lnTo>
                  <a:lnTo>
                    <a:pt x="6408000" y="95250"/>
                  </a:lnTo>
                  <a:lnTo>
                    <a:pt x="6400509" y="58185"/>
                  </a:lnTo>
                  <a:lnTo>
                    <a:pt x="6380076" y="27908"/>
                  </a:lnTo>
                  <a:lnTo>
                    <a:pt x="6349761" y="7489"/>
                  </a:lnTo>
                  <a:lnTo>
                    <a:pt x="6312623" y="0"/>
                  </a:lnTo>
                  <a:close/>
                </a:path>
              </a:pathLst>
            </a:custGeom>
            <a:solidFill>
              <a:srgbClr val="27242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793788" y="2480310"/>
              <a:ext cx="6408420" cy="2411730"/>
            </a:xfrm>
            <a:custGeom>
              <a:rect b="b" l="l" r="r" t="t"/>
              <a:pathLst>
                <a:path extrusionOk="0" h="2411729" w="6408420">
                  <a:moveTo>
                    <a:pt x="0" y="95250"/>
                  </a:moveTo>
                  <a:lnTo>
                    <a:pt x="7487" y="58185"/>
                  </a:lnTo>
                  <a:lnTo>
                    <a:pt x="27906" y="27908"/>
                  </a:lnTo>
                  <a:lnTo>
                    <a:pt x="58191" y="7489"/>
                  </a:lnTo>
                  <a:lnTo>
                    <a:pt x="95275" y="0"/>
                  </a:lnTo>
                  <a:lnTo>
                    <a:pt x="6312623" y="0"/>
                  </a:lnTo>
                  <a:lnTo>
                    <a:pt x="6349761" y="7489"/>
                  </a:lnTo>
                  <a:lnTo>
                    <a:pt x="6380076" y="27908"/>
                  </a:lnTo>
                  <a:lnTo>
                    <a:pt x="6400509" y="58185"/>
                  </a:lnTo>
                  <a:lnTo>
                    <a:pt x="6408000" y="95250"/>
                  </a:lnTo>
                  <a:lnTo>
                    <a:pt x="6408000" y="2315972"/>
                  </a:lnTo>
                  <a:lnTo>
                    <a:pt x="6400509" y="2353036"/>
                  </a:lnTo>
                  <a:lnTo>
                    <a:pt x="6380076" y="2383313"/>
                  </a:lnTo>
                  <a:lnTo>
                    <a:pt x="6349761" y="2403732"/>
                  </a:lnTo>
                  <a:lnTo>
                    <a:pt x="6312623" y="2411222"/>
                  </a:lnTo>
                  <a:lnTo>
                    <a:pt x="95275" y="2411222"/>
                  </a:lnTo>
                  <a:lnTo>
                    <a:pt x="58191" y="2403732"/>
                  </a:lnTo>
                  <a:lnTo>
                    <a:pt x="27906" y="2383313"/>
                  </a:lnTo>
                  <a:lnTo>
                    <a:pt x="7487" y="2353036"/>
                  </a:lnTo>
                  <a:lnTo>
                    <a:pt x="0" y="2315972"/>
                  </a:lnTo>
                  <a:lnTo>
                    <a:pt x="0" y="95250"/>
                  </a:lnTo>
                  <a:close/>
                </a:path>
              </a:pathLst>
            </a:custGeom>
            <a:noFill/>
            <a:ln cap="flat" cmpd="sng" w="30475">
              <a:solidFill>
                <a:srgbClr val="2A18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824268" y="2510790"/>
              <a:ext cx="6347460" cy="680720"/>
            </a:xfrm>
            <a:custGeom>
              <a:rect b="b" l="l" r="r" t="t"/>
              <a:pathLst>
                <a:path extrusionOk="0" h="680719" w="6347459">
                  <a:moveTo>
                    <a:pt x="6288239" y="0"/>
                  </a:moveTo>
                  <a:lnTo>
                    <a:pt x="58699" y="0"/>
                  </a:lnTo>
                  <a:lnTo>
                    <a:pt x="35849" y="4613"/>
                  </a:lnTo>
                  <a:lnTo>
                    <a:pt x="17191" y="17192"/>
                  </a:lnTo>
                  <a:lnTo>
                    <a:pt x="4612" y="35843"/>
                  </a:lnTo>
                  <a:lnTo>
                    <a:pt x="0" y="58674"/>
                  </a:lnTo>
                  <a:lnTo>
                    <a:pt x="0" y="621792"/>
                  </a:lnTo>
                  <a:lnTo>
                    <a:pt x="4612" y="644622"/>
                  </a:lnTo>
                  <a:lnTo>
                    <a:pt x="17191" y="663273"/>
                  </a:lnTo>
                  <a:lnTo>
                    <a:pt x="35849" y="675852"/>
                  </a:lnTo>
                  <a:lnTo>
                    <a:pt x="58699" y="680465"/>
                  </a:lnTo>
                  <a:lnTo>
                    <a:pt x="6288239" y="680465"/>
                  </a:lnTo>
                  <a:lnTo>
                    <a:pt x="6311143" y="675852"/>
                  </a:lnTo>
                  <a:lnTo>
                    <a:pt x="6329832" y="663273"/>
                  </a:lnTo>
                  <a:lnTo>
                    <a:pt x="6342425" y="644622"/>
                  </a:lnTo>
                  <a:lnTo>
                    <a:pt x="6347040" y="621792"/>
                  </a:lnTo>
                  <a:lnTo>
                    <a:pt x="6347040" y="58674"/>
                  </a:lnTo>
                  <a:lnTo>
                    <a:pt x="6342425" y="35843"/>
                  </a:lnTo>
                  <a:lnTo>
                    <a:pt x="6329832" y="17192"/>
                  </a:lnTo>
                  <a:lnTo>
                    <a:pt x="6311143" y="4613"/>
                  </a:lnTo>
                  <a:lnTo>
                    <a:pt x="6288239" y="0"/>
                  </a:lnTo>
                  <a:close/>
                </a:path>
              </a:pathLst>
            </a:custGeom>
            <a:solidFill>
              <a:srgbClr val="11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</p:grpSp>
      <p:sp>
        <p:nvSpPr>
          <p:cNvPr id="211" name="Google Shape;211;p26"/>
          <p:cNvSpPr txBox="1"/>
          <p:nvPr>
            <p:ph idx="1" type="body"/>
          </p:nvPr>
        </p:nvSpPr>
        <p:spPr>
          <a:xfrm>
            <a:off x="529960" y="1589405"/>
            <a:ext cx="3939778" cy="1292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0" marR="127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Connectivity Check</a:t>
            </a:r>
            <a:endParaRPr sz="1400"/>
          </a:p>
          <a:p>
            <a:pPr indent="0" lvl="0" marL="127000" marR="266700" rtl="0" algn="l">
              <a:lnSpc>
                <a:spcPct val="1383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1100">
                <a:latin typeface="Tahoma"/>
                <a:ea typeface="Tahoma"/>
                <a:cs typeface="Tahoma"/>
                <a:sym typeface="Tahoma"/>
              </a:rPr>
              <a:t>Verify all concepts are reachable within the reasoning path — no isolated nodes.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12" name="Google Shape;212;p26"/>
          <p:cNvGrpSpPr/>
          <p:nvPr/>
        </p:nvGrpSpPr>
        <p:grpSpPr>
          <a:xfrm>
            <a:off x="4642802" y="1550194"/>
            <a:ext cx="4005263" cy="1507331"/>
            <a:chOff x="7428483" y="2480310"/>
            <a:chExt cx="6408420" cy="2411730"/>
          </a:xfrm>
        </p:grpSpPr>
        <p:sp>
          <p:nvSpPr>
            <p:cNvPr id="213" name="Google Shape;213;p26"/>
            <p:cNvSpPr/>
            <p:nvPr/>
          </p:nvSpPr>
          <p:spPr>
            <a:xfrm>
              <a:off x="7428483" y="2480310"/>
              <a:ext cx="6408420" cy="2411730"/>
            </a:xfrm>
            <a:custGeom>
              <a:rect b="b" l="l" r="r" t="t"/>
              <a:pathLst>
                <a:path extrusionOk="0" h="2411729" w="6408419">
                  <a:moveTo>
                    <a:pt x="6312916" y="0"/>
                  </a:moveTo>
                  <a:lnTo>
                    <a:pt x="95376" y="0"/>
                  </a:lnTo>
                  <a:lnTo>
                    <a:pt x="58239" y="7489"/>
                  </a:lnTo>
                  <a:lnTo>
                    <a:pt x="27924" y="27908"/>
                  </a:lnTo>
                  <a:lnTo>
                    <a:pt x="7491" y="58185"/>
                  </a:lnTo>
                  <a:lnTo>
                    <a:pt x="0" y="95250"/>
                  </a:lnTo>
                  <a:lnTo>
                    <a:pt x="0" y="2315972"/>
                  </a:lnTo>
                  <a:lnTo>
                    <a:pt x="7491" y="2353109"/>
                  </a:lnTo>
                  <a:lnTo>
                    <a:pt x="27924" y="2383424"/>
                  </a:lnTo>
                  <a:lnTo>
                    <a:pt x="58239" y="2403857"/>
                  </a:lnTo>
                  <a:lnTo>
                    <a:pt x="95376" y="2411349"/>
                  </a:lnTo>
                  <a:lnTo>
                    <a:pt x="6312916" y="2411349"/>
                  </a:lnTo>
                  <a:lnTo>
                    <a:pt x="6349980" y="2403857"/>
                  </a:lnTo>
                  <a:lnTo>
                    <a:pt x="6380257" y="2383424"/>
                  </a:lnTo>
                  <a:lnTo>
                    <a:pt x="6400676" y="2353109"/>
                  </a:lnTo>
                  <a:lnTo>
                    <a:pt x="6408166" y="2315972"/>
                  </a:lnTo>
                  <a:lnTo>
                    <a:pt x="6408166" y="95250"/>
                  </a:lnTo>
                  <a:lnTo>
                    <a:pt x="6400676" y="58185"/>
                  </a:lnTo>
                  <a:lnTo>
                    <a:pt x="6380257" y="27908"/>
                  </a:lnTo>
                  <a:lnTo>
                    <a:pt x="6349980" y="7489"/>
                  </a:lnTo>
                  <a:lnTo>
                    <a:pt x="6312916" y="0"/>
                  </a:lnTo>
                  <a:close/>
                </a:path>
              </a:pathLst>
            </a:custGeom>
            <a:solidFill>
              <a:srgbClr val="27242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7428483" y="2480310"/>
              <a:ext cx="6408420" cy="2411730"/>
            </a:xfrm>
            <a:custGeom>
              <a:rect b="b" l="l" r="r" t="t"/>
              <a:pathLst>
                <a:path extrusionOk="0" h="2411729" w="6408419">
                  <a:moveTo>
                    <a:pt x="0" y="95250"/>
                  </a:moveTo>
                  <a:lnTo>
                    <a:pt x="7491" y="58185"/>
                  </a:lnTo>
                  <a:lnTo>
                    <a:pt x="27924" y="27908"/>
                  </a:lnTo>
                  <a:lnTo>
                    <a:pt x="58239" y="7489"/>
                  </a:lnTo>
                  <a:lnTo>
                    <a:pt x="95376" y="0"/>
                  </a:lnTo>
                  <a:lnTo>
                    <a:pt x="6312916" y="0"/>
                  </a:lnTo>
                  <a:lnTo>
                    <a:pt x="6349980" y="7489"/>
                  </a:lnTo>
                  <a:lnTo>
                    <a:pt x="6380257" y="27908"/>
                  </a:lnTo>
                  <a:lnTo>
                    <a:pt x="6400676" y="58185"/>
                  </a:lnTo>
                  <a:lnTo>
                    <a:pt x="6408166" y="95250"/>
                  </a:lnTo>
                  <a:lnTo>
                    <a:pt x="6408166" y="2315972"/>
                  </a:lnTo>
                  <a:lnTo>
                    <a:pt x="6400676" y="2353109"/>
                  </a:lnTo>
                  <a:lnTo>
                    <a:pt x="6380257" y="2383424"/>
                  </a:lnTo>
                  <a:lnTo>
                    <a:pt x="6349980" y="2403857"/>
                  </a:lnTo>
                  <a:lnTo>
                    <a:pt x="6312916" y="2411349"/>
                  </a:lnTo>
                  <a:lnTo>
                    <a:pt x="95376" y="2411349"/>
                  </a:lnTo>
                  <a:lnTo>
                    <a:pt x="58239" y="2403857"/>
                  </a:lnTo>
                  <a:lnTo>
                    <a:pt x="27924" y="2383424"/>
                  </a:lnTo>
                  <a:lnTo>
                    <a:pt x="7491" y="2353109"/>
                  </a:lnTo>
                  <a:lnTo>
                    <a:pt x="0" y="2315972"/>
                  </a:lnTo>
                  <a:lnTo>
                    <a:pt x="0" y="95250"/>
                  </a:lnTo>
                  <a:close/>
                </a:path>
              </a:pathLst>
            </a:custGeom>
            <a:noFill/>
            <a:ln cap="flat" cmpd="sng" w="30475">
              <a:solidFill>
                <a:srgbClr val="2A18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7458963" y="2510790"/>
              <a:ext cx="6347460" cy="680720"/>
            </a:xfrm>
            <a:custGeom>
              <a:rect b="b" l="l" r="r" t="t"/>
              <a:pathLst>
                <a:path extrusionOk="0" h="680719" w="6347459">
                  <a:moveTo>
                    <a:pt x="6288532" y="0"/>
                  </a:moveTo>
                  <a:lnTo>
                    <a:pt x="58800" y="0"/>
                  </a:lnTo>
                  <a:lnTo>
                    <a:pt x="35897" y="4613"/>
                  </a:lnTo>
                  <a:lnTo>
                    <a:pt x="17208" y="17192"/>
                  </a:lnTo>
                  <a:lnTo>
                    <a:pt x="4615" y="35843"/>
                  </a:lnTo>
                  <a:lnTo>
                    <a:pt x="0" y="58674"/>
                  </a:lnTo>
                  <a:lnTo>
                    <a:pt x="0" y="621792"/>
                  </a:lnTo>
                  <a:lnTo>
                    <a:pt x="4615" y="644622"/>
                  </a:lnTo>
                  <a:lnTo>
                    <a:pt x="17208" y="663273"/>
                  </a:lnTo>
                  <a:lnTo>
                    <a:pt x="35897" y="675852"/>
                  </a:lnTo>
                  <a:lnTo>
                    <a:pt x="58800" y="680465"/>
                  </a:lnTo>
                  <a:lnTo>
                    <a:pt x="6288532" y="680465"/>
                  </a:lnTo>
                  <a:lnTo>
                    <a:pt x="6311362" y="675852"/>
                  </a:lnTo>
                  <a:lnTo>
                    <a:pt x="6330013" y="663273"/>
                  </a:lnTo>
                  <a:lnTo>
                    <a:pt x="6342592" y="644622"/>
                  </a:lnTo>
                  <a:lnTo>
                    <a:pt x="6347205" y="621792"/>
                  </a:lnTo>
                  <a:lnTo>
                    <a:pt x="6347205" y="58674"/>
                  </a:lnTo>
                  <a:lnTo>
                    <a:pt x="6342592" y="35843"/>
                  </a:lnTo>
                  <a:lnTo>
                    <a:pt x="6330013" y="17192"/>
                  </a:lnTo>
                  <a:lnTo>
                    <a:pt x="6311362" y="4613"/>
                  </a:lnTo>
                  <a:lnTo>
                    <a:pt x="6288532" y="0"/>
                  </a:lnTo>
                  <a:close/>
                </a:path>
              </a:pathLst>
            </a:custGeom>
            <a:solidFill>
              <a:srgbClr val="11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</p:grpSp>
      <p:sp>
        <p:nvSpPr>
          <p:cNvPr id="216" name="Google Shape;216;p26"/>
          <p:cNvSpPr txBox="1"/>
          <p:nvPr/>
        </p:nvSpPr>
        <p:spPr>
          <a:xfrm>
            <a:off x="6531769" y="1589405"/>
            <a:ext cx="144463" cy="268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sz="17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7" name="Google Shape;217;p26"/>
          <p:cNvSpPr txBox="1"/>
          <p:nvPr/>
        </p:nvSpPr>
        <p:spPr>
          <a:xfrm>
            <a:off x="4796075" y="2120868"/>
            <a:ext cx="3365897" cy="761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Flow Integrity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383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Confirm logical progression from stated premise to conclusion without unexplained jumps.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18" name="Google Shape;218;p26"/>
          <p:cNvGrpSpPr/>
          <p:nvPr/>
        </p:nvGrpSpPr>
        <p:grpSpPr>
          <a:xfrm>
            <a:off x="496118" y="3198971"/>
            <a:ext cx="4005263" cy="1507331"/>
            <a:chOff x="793788" y="5118354"/>
            <a:chExt cx="6408420" cy="2411730"/>
          </a:xfrm>
        </p:grpSpPr>
        <p:sp>
          <p:nvSpPr>
            <p:cNvPr id="219" name="Google Shape;219;p26"/>
            <p:cNvSpPr/>
            <p:nvPr/>
          </p:nvSpPr>
          <p:spPr>
            <a:xfrm>
              <a:off x="793788" y="5118354"/>
              <a:ext cx="6408420" cy="2411730"/>
            </a:xfrm>
            <a:custGeom>
              <a:rect b="b" l="l" r="r" t="t"/>
              <a:pathLst>
                <a:path extrusionOk="0" h="2411729" w="6408420">
                  <a:moveTo>
                    <a:pt x="6312623" y="0"/>
                  </a:moveTo>
                  <a:lnTo>
                    <a:pt x="95275" y="0"/>
                  </a:lnTo>
                  <a:lnTo>
                    <a:pt x="58191" y="7489"/>
                  </a:lnTo>
                  <a:lnTo>
                    <a:pt x="27906" y="27908"/>
                  </a:lnTo>
                  <a:lnTo>
                    <a:pt x="7487" y="58185"/>
                  </a:lnTo>
                  <a:lnTo>
                    <a:pt x="0" y="95250"/>
                  </a:lnTo>
                  <a:lnTo>
                    <a:pt x="0" y="2316010"/>
                  </a:lnTo>
                  <a:lnTo>
                    <a:pt x="7487" y="2353092"/>
                  </a:lnTo>
                  <a:lnTo>
                    <a:pt x="27906" y="2383372"/>
                  </a:lnTo>
                  <a:lnTo>
                    <a:pt x="58191" y="2403787"/>
                  </a:lnTo>
                  <a:lnTo>
                    <a:pt x="95275" y="2411272"/>
                  </a:lnTo>
                  <a:lnTo>
                    <a:pt x="6312623" y="2411272"/>
                  </a:lnTo>
                  <a:lnTo>
                    <a:pt x="6349761" y="2403787"/>
                  </a:lnTo>
                  <a:lnTo>
                    <a:pt x="6380076" y="2383372"/>
                  </a:lnTo>
                  <a:lnTo>
                    <a:pt x="6400509" y="2353092"/>
                  </a:lnTo>
                  <a:lnTo>
                    <a:pt x="6408000" y="2316010"/>
                  </a:lnTo>
                  <a:lnTo>
                    <a:pt x="6408000" y="95250"/>
                  </a:lnTo>
                  <a:lnTo>
                    <a:pt x="6400509" y="58185"/>
                  </a:lnTo>
                  <a:lnTo>
                    <a:pt x="6380076" y="27908"/>
                  </a:lnTo>
                  <a:lnTo>
                    <a:pt x="6349761" y="7489"/>
                  </a:lnTo>
                  <a:lnTo>
                    <a:pt x="6312623" y="0"/>
                  </a:lnTo>
                  <a:close/>
                </a:path>
              </a:pathLst>
            </a:custGeom>
            <a:solidFill>
              <a:srgbClr val="27242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793788" y="5118354"/>
              <a:ext cx="6408420" cy="2411730"/>
            </a:xfrm>
            <a:custGeom>
              <a:rect b="b" l="l" r="r" t="t"/>
              <a:pathLst>
                <a:path extrusionOk="0" h="2411729" w="6408420">
                  <a:moveTo>
                    <a:pt x="0" y="95250"/>
                  </a:moveTo>
                  <a:lnTo>
                    <a:pt x="7487" y="58185"/>
                  </a:lnTo>
                  <a:lnTo>
                    <a:pt x="27906" y="27908"/>
                  </a:lnTo>
                  <a:lnTo>
                    <a:pt x="58191" y="7489"/>
                  </a:lnTo>
                  <a:lnTo>
                    <a:pt x="95275" y="0"/>
                  </a:lnTo>
                  <a:lnTo>
                    <a:pt x="6312623" y="0"/>
                  </a:lnTo>
                  <a:lnTo>
                    <a:pt x="6349761" y="7489"/>
                  </a:lnTo>
                  <a:lnTo>
                    <a:pt x="6380076" y="27908"/>
                  </a:lnTo>
                  <a:lnTo>
                    <a:pt x="6400509" y="58185"/>
                  </a:lnTo>
                  <a:lnTo>
                    <a:pt x="6408000" y="95250"/>
                  </a:lnTo>
                  <a:lnTo>
                    <a:pt x="6408000" y="2316010"/>
                  </a:lnTo>
                  <a:lnTo>
                    <a:pt x="6400509" y="2353092"/>
                  </a:lnTo>
                  <a:lnTo>
                    <a:pt x="6380076" y="2383372"/>
                  </a:lnTo>
                  <a:lnTo>
                    <a:pt x="6349761" y="2403787"/>
                  </a:lnTo>
                  <a:lnTo>
                    <a:pt x="6312623" y="2411272"/>
                  </a:lnTo>
                  <a:lnTo>
                    <a:pt x="95275" y="2411272"/>
                  </a:lnTo>
                  <a:lnTo>
                    <a:pt x="58191" y="2403787"/>
                  </a:lnTo>
                  <a:lnTo>
                    <a:pt x="27906" y="2383372"/>
                  </a:lnTo>
                  <a:lnTo>
                    <a:pt x="7487" y="2353092"/>
                  </a:lnTo>
                  <a:lnTo>
                    <a:pt x="0" y="2316010"/>
                  </a:lnTo>
                  <a:lnTo>
                    <a:pt x="0" y="95250"/>
                  </a:lnTo>
                  <a:close/>
                </a:path>
              </a:pathLst>
            </a:custGeom>
            <a:noFill/>
            <a:ln cap="flat" cmpd="sng" w="30475">
              <a:solidFill>
                <a:srgbClr val="2A18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824268" y="5148834"/>
              <a:ext cx="6347460" cy="680720"/>
            </a:xfrm>
            <a:custGeom>
              <a:rect b="b" l="l" r="r" t="t"/>
              <a:pathLst>
                <a:path extrusionOk="0" h="680720" w="6347459">
                  <a:moveTo>
                    <a:pt x="6288239" y="0"/>
                  </a:moveTo>
                  <a:lnTo>
                    <a:pt x="58699" y="0"/>
                  </a:lnTo>
                  <a:lnTo>
                    <a:pt x="35849" y="4613"/>
                  </a:lnTo>
                  <a:lnTo>
                    <a:pt x="17191" y="17192"/>
                  </a:lnTo>
                  <a:lnTo>
                    <a:pt x="4612" y="35843"/>
                  </a:lnTo>
                  <a:lnTo>
                    <a:pt x="0" y="58674"/>
                  </a:lnTo>
                  <a:lnTo>
                    <a:pt x="0" y="621792"/>
                  </a:lnTo>
                  <a:lnTo>
                    <a:pt x="4612" y="644622"/>
                  </a:lnTo>
                  <a:lnTo>
                    <a:pt x="17191" y="663273"/>
                  </a:lnTo>
                  <a:lnTo>
                    <a:pt x="35849" y="675852"/>
                  </a:lnTo>
                  <a:lnTo>
                    <a:pt x="58699" y="680466"/>
                  </a:lnTo>
                  <a:lnTo>
                    <a:pt x="6288239" y="680466"/>
                  </a:lnTo>
                  <a:lnTo>
                    <a:pt x="6311143" y="675852"/>
                  </a:lnTo>
                  <a:lnTo>
                    <a:pt x="6329832" y="663273"/>
                  </a:lnTo>
                  <a:lnTo>
                    <a:pt x="6342425" y="644622"/>
                  </a:lnTo>
                  <a:lnTo>
                    <a:pt x="6347040" y="621792"/>
                  </a:lnTo>
                  <a:lnTo>
                    <a:pt x="6347040" y="58674"/>
                  </a:lnTo>
                  <a:lnTo>
                    <a:pt x="6342425" y="35843"/>
                  </a:lnTo>
                  <a:lnTo>
                    <a:pt x="6329832" y="17192"/>
                  </a:lnTo>
                  <a:lnTo>
                    <a:pt x="6311143" y="4613"/>
                  </a:lnTo>
                  <a:lnTo>
                    <a:pt x="6288239" y="0"/>
                  </a:lnTo>
                  <a:close/>
                </a:path>
              </a:pathLst>
            </a:custGeom>
            <a:solidFill>
              <a:srgbClr val="11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</p:grpSp>
      <p:sp>
        <p:nvSpPr>
          <p:cNvPr id="222" name="Google Shape;222;p26"/>
          <p:cNvSpPr txBox="1"/>
          <p:nvPr/>
        </p:nvSpPr>
        <p:spPr>
          <a:xfrm>
            <a:off x="2384584" y="3238579"/>
            <a:ext cx="146049" cy="268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sz="17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3" name="Google Shape;223;p26"/>
          <p:cNvSpPr txBox="1"/>
          <p:nvPr/>
        </p:nvSpPr>
        <p:spPr>
          <a:xfrm>
            <a:off x="649097" y="3770233"/>
            <a:ext cx="3548063" cy="761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Gap Detection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384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Flag missing intermediate steps that would render the conclusion unsupported.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24" name="Google Shape;224;p26"/>
          <p:cNvGrpSpPr/>
          <p:nvPr/>
        </p:nvGrpSpPr>
        <p:grpSpPr>
          <a:xfrm>
            <a:off x="4642802" y="3198971"/>
            <a:ext cx="4005263" cy="1507331"/>
            <a:chOff x="7428483" y="5118354"/>
            <a:chExt cx="6408420" cy="2411730"/>
          </a:xfrm>
        </p:grpSpPr>
        <p:sp>
          <p:nvSpPr>
            <p:cNvPr id="225" name="Google Shape;225;p26"/>
            <p:cNvSpPr/>
            <p:nvPr/>
          </p:nvSpPr>
          <p:spPr>
            <a:xfrm>
              <a:off x="7428483" y="5118354"/>
              <a:ext cx="6408420" cy="2411730"/>
            </a:xfrm>
            <a:custGeom>
              <a:rect b="b" l="l" r="r" t="t"/>
              <a:pathLst>
                <a:path extrusionOk="0" h="2411729" w="6408419">
                  <a:moveTo>
                    <a:pt x="6312916" y="0"/>
                  </a:moveTo>
                  <a:lnTo>
                    <a:pt x="95376" y="0"/>
                  </a:lnTo>
                  <a:lnTo>
                    <a:pt x="58239" y="7489"/>
                  </a:lnTo>
                  <a:lnTo>
                    <a:pt x="27924" y="27908"/>
                  </a:lnTo>
                  <a:lnTo>
                    <a:pt x="7491" y="58185"/>
                  </a:lnTo>
                  <a:lnTo>
                    <a:pt x="0" y="95250"/>
                  </a:lnTo>
                  <a:lnTo>
                    <a:pt x="0" y="2316048"/>
                  </a:lnTo>
                  <a:lnTo>
                    <a:pt x="7491" y="2353132"/>
                  </a:lnTo>
                  <a:lnTo>
                    <a:pt x="27924" y="2383416"/>
                  </a:lnTo>
                  <a:lnTo>
                    <a:pt x="58239" y="2403835"/>
                  </a:lnTo>
                  <a:lnTo>
                    <a:pt x="95376" y="2411323"/>
                  </a:lnTo>
                  <a:lnTo>
                    <a:pt x="6312916" y="2411323"/>
                  </a:lnTo>
                  <a:lnTo>
                    <a:pt x="6349980" y="2403835"/>
                  </a:lnTo>
                  <a:lnTo>
                    <a:pt x="6380257" y="2383416"/>
                  </a:lnTo>
                  <a:lnTo>
                    <a:pt x="6400676" y="2353132"/>
                  </a:lnTo>
                  <a:lnTo>
                    <a:pt x="6408166" y="2316048"/>
                  </a:lnTo>
                  <a:lnTo>
                    <a:pt x="6408166" y="95250"/>
                  </a:lnTo>
                  <a:lnTo>
                    <a:pt x="6400676" y="58185"/>
                  </a:lnTo>
                  <a:lnTo>
                    <a:pt x="6380257" y="27908"/>
                  </a:lnTo>
                  <a:lnTo>
                    <a:pt x="6349980" y="7489"/>
                  </a:lnTo>
                  <a:lnTo>
                    <a:pt x="6312916" y="0"/>
                  </a:lnTo>
                  <a:close/>
                </a:path>
              </a:pathLst>
            </a:custGeom>
            <a:solidFill>
              <a:srgbClr val="27242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7428483" y="5118354"/>
              <a:ext cx="6408420" cy="2411730"/>
            </a:xfrm>
            <a:custGeom>
              <a:rect b="b" l="l" r="r" t="t"/>
              <a:pathLst>
                <a:path extrusionOk="0" h="2411729" w="6408419">
                  <a:moveTo>
                    <a:pt x="0" y="95250"/>
                  </a:moveTo>
                  <a:lnTo>
                    <a:pt x="7491" y="58185"/>
                  </a:lnTo>
                  <a:lnTo>
                    <a:pt x="27924" y="27908"/>
                  </a:lnTo>
                  <a:lnTo>
                    <a:pt x="58239" y="7489"/>
                  </a:lnTo>
                  <a:lnTo>
                    <a:pt x="95376" y="0"/>
                  </a:lnTo>
                  <a:lnTo>
                    <a:pt x="6312916" y="0"/>
                  </a:lnTo>
                  <a:lnTo>
                    <a:pt x="6349980" y="7489"/>
                  </a:lnTo>
                  <a:lnTo>
                    <a:pt x="6380257" y="27908"/>
                  </a:lnTo>
                  <a:lnTo>
                    <a:pt x="6400676" y="58185"/>
                  </a:lnTo>
                  <a:lnTo>
                    <a:pt x="6408166" y="95250"/>
                  </a:lnTo>
                  <a:lnTo>
                    <a:pt x="6408166" y="2316048"/>
                  </a:lnTo>
                  <a:lnTo>
                    <a:pt x="6400676" y="2353132"/>
                  </a:lnTo>
                  <a:lnTo>
                    <a:pt x="6380257" y="2383416"/>
                  </a:lnTo>
                  <a:lnTo>
                    <a:pt x="6349980" y="2403835"/>
                  </a:lnTo>
                  <a:lnTo>
                    <a:pt x="6312916" y="2411323"/>
                  </a:lnTo>
                  <a:lnTo>
                    <a:pt x="95376" y="2411323"/>
                  </a:lnTo>
                  <a:lnTo>
                    <a:pt x="58239" y="2403835"/>
                  </a:lnTo>
                  <a:lnTo>
                    <a:pt x="27924" y="2383416"/>
                  </a:lnTo>
                  <a:lnTo>
                    <a:pt x="7491" y="2353132"/>
                  </a:lnTo>
                  <a:lnTo>
                    <a:pt x="0" y="2316048"/>
                  </a:lnTo>
                  <a:lnTo>
                    <a:pt x="0" y="95250"/>
                  </a:lnTo>
                  <a:close/>
                </a:path>
              </a:pathLst>
            </a:custGeom>
            <a:noFill/>
            <a:ln cap="flat" cmpd="sng" w="30475">
              <a:solidFill>
                <a:srgbClr val="2A18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7458963" y="5148834"/>
              <a:ext cx="6347460" cy="680720"/>
            </a:xfrm>
            <a:custGeom>
              <a:rect b="b" l="l" r="r" t="t"/>
              <a:pathLst>
                <a:path extrusionOk="0" h="680720" w="6347459">
                  <a:moveTo>
                    <a:pt x="6288532" y="0"/>
                  </a:moveTo>
                  <a:lnTo>
                    <a:pt x="58800" y="0"/>
                  </a:lnTo>
                  <a:lnTo>
                    <a:pt x="35897" y="4613"/>
                  </a:lnTo>
                  <a:lnTo>
                    <a:pt x="17208" y="17192"/>
                  </a:lnTo>
                  <a:lnTo>
                    <a:pt x="4615" y="35843"/>
                  </a:lnTo>
                  <a:lnTo>
                    <a:pt x="0" y="58674"/>
                  </a:lnTo>
                  <a:lnTo>
                    <a:pt x="0" y="621792"/>
                  </a:lnTo>
                  <a:lnTo>
                    <a:pt x="4615" y="644622"/>
                  </a:lnTo>
                  <a:lnTo>
                    <a:pt x="17208" y="663273"/>
                  </a:lnTo>
                  <a:lnTo>
                    <a:pt x="35897" y="675852"/>
                  </a:lnTo>
                  <a:lnTo>
                    <a:pt x="58800" y="680466"/>
                  </a:lnTo>
                  <a:lnTo>
                    <a:pt x="6288532" y="680466"/>
                  </a:lnTo>
                  <a:lnTo>
                    <a:pt x="6311362" y="675852"/>
                  </a:lnTo>
                  <a:lnTo>
                    <a:pt x="6330013" y="663273"/>
                  </a:lnTo>
                  <a:lnTo>
                    <a:pt x="6342592" y="644622"/>
                  </a:lnTo>
                  <a:lnTo>
                    <a:pt x="6347205" y="621792"/>
                  </a:lnTo>
                  <a:lnTo>
                    <a:pt x="6347205" y="58674"/>
                  </a:lnTo>
                  <a:lnTo>
                    <a:pt x="6342592" y="35843"/>
                  </a:lnTo>
                  <a:lnTo>
                    <a:pt x="6330013" y="17192"/>
                  </a:lnTo>
                  <a:lnTo>
                    <a:pt x="6311362" y="4613"/>
                  </a:lnTo>
                  <a:lnTo>
                    <a:pt x="6288532" y="0"/>
                  </a:lnTo>
                  <a:close/>
                </a:path>
              </a:pathLst>
            </a:custGeom>
            <a:solidFill>
              <a:srgbClr val="11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</p:grpSp>
      <p:sp>
        <p:nvSpPr>
          <p:cNvPr id="228" name="Google Shape;228;p26"/>
          <p:cNvSpPr txBox="1"/>
          <p:nvPr/>
        </p:nvSpPr>
        <p:spPr>
          <a:xfrm>
            <a:off x="6531769" y="3238579"/>
            <a:ext cx="152002" cy="268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sz="17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4796075" y="3770233"/>
            <a:ext cx="3326209" cy="761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Claim Rejection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384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Discard assertions that lack ontological backing or contradict validated domain rules.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/>
          <p:nvPr/>
        </p:nvSpPr>
        <p:spPr>
          <a:xfrm>
            <a:off x="488315" y="744818"/>
            <a:ext cx="4127896" cy="3469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75">
            <a:sp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DOMAIN KNOWLEDGE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The Role of Ontology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383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The ontology serves as the system's </a:t>
            </a:r>
            <a:r>
              <a:rPr b="1" lang="en-GB" sz="1100">
                <a:solidFill>
                  <a:srgbClr val="2B09FF"/>
                </a:solidFill>
                <a:latin typeface="Tahoma"/>
                <a:ea typeface="Tahoma"/>
                <a:cs typeface="Tahoma"/>
                <a:sym typeface="Tahoma"/>
              </a:rPr>
              <a:t>ground truth </a:t>
            </a: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— a formal specification of valid entities, relationship types, and inference rules within the medical domain.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209550" lvl="0" marL="215900" marR="558800" rtl="0" algn="l">
              <a:lnSpc>
                <a:spcPct val="138300"/>
              </a:lnSpc>
              <a:spcBef>
                <a:spcPts val="900"/>
              </a:spcBef>
              <a:spcAft>
                <a:spcPts val="0"/>
              </a:spcAft>
              <a:buClr>
                <a:srgbClr val="E4DFDF"/>
              </a:buClr>
              <a:buSzPts val="1100"/>
              <a:buFont typeface="Tahoma"/>
              <a:buChar char="•"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Defines which entity types can participate in which relationship types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209550" lvl="0" marL="215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4DFDF"/>
              </a:buClr>
              <a:buSzPts val="1100"/>
              <a:buFont typeface="Tahoma"/>
              <a:buChar char="•"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Prevents structurally invalid edges from entering the graph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209550" lvl="0" marL="215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4DFDF"/>
              </a:buClr>
              <a:buSzPts val="1100"/>
              <a:buFont typeface="Tahoma"/>
              <a:buChar char="•"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Anchors validation to accepted biomedical knowledge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Example rule: </a:t>
            </a:r>
            <a:r>
              <a:rPr lang="en-GB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 bacterium </a:t>
            </a:r>
            <a:r>
              <a:rPr i="1" lang="en-GB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may </a:t>
            </a:r>
            <a:r>
              <a:rPr lang="en-GB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produce an enzyme —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but an enzyme may not produce a bacterium.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5" name="Google Shape;235;p27"/>
          <p:cNvSpPr/>
          <p:nvPr/>
        </p:nvSpPr>
        <p:spPr>
          <a:xfrm>
            <a:off x="5072459" y="556816"/>
            <a:ext cx="3682206" cy="4029869"/>
          </a:xfrm>
          <a:custGeom>
            <a:rect b="b" l="l" r="r" t="t"/>
            <a:pathLst>
              <a:path extrusionOk="0" h="6447790" w="5891530">
                <a:moveTo>
                  <a:pt x="5728208" y="0"/>
                </a:moveTo>
                <a:lnTo>
                  <a:pt x="163322" y="0"/>
                </a:lnTo>
                <a:lnTo>
                  <a:pt x="119870" y="5836"/>
                </a:lnTo>
                <a:lnTo>
                  <a:pt x="80847" y="22304"/>
                </a:lnTo>
                <a:lnTo>
                  <a:pt x="47799" y="47847"/>
                </a:lnTo>
                <a:lnTo>
                  <a:pt x="22276" y="80903"/>
                </a:lnTo>
                <a:lnTo>
                  <a:pt x="5827" y="119915"/>
                </a:lnTo>
                <a:lnTo>
                  <a:pt x="0" y="163322"/>
                </a:lnTo>
                <a:lnTo>
                  <a:pt x="0" y="6284429"/>
                </a:lnTo>
                <a:lnTo>
                  <a:pt x="5827" y="6327845"/>
                </a:lnTo>
                <a:lnTo>
                  <a:pt x="22276" y="6366859"/>
                </a:lnTo>
                <a:lnTo>
                  <a:pt x="47799" y="6399914"/>
                </a:lnTo>
                <a:lnTo>
                  <a:pt x="80847" y="6425452"/>
                </a:lnTo>
                <a:lnTo>
                  <a:pt x="119870" y="6441917"/>
                </a:lnTo>
                <a:lnTo>
                  <a:pt x="163322" y="6447751"/>
                </a:lnTo>
                <a:lnTo>
                  <a:pt x="5728208" y="6447751"/>
                </a:lnTo>
                <a:lnTo>
                  <a:pt x="5771614" y="6441917"/>
                </a:lnTo>
                <a:lnTo>
                  <a:pt x="5810626" y="6425452"/>
                </a:lnTo>
                <a:lnTo>
                  <a:pt x="5843682" y="6399914"/>
                </a:lnTo>
                <a:lnTo>
                  <a:pt x="5869225" y="6366859"/>
                </a:lnTo>
                <a:lnTo>
                  <a:pt x="5885693" y="6327845"/>
                </a:lnTo>
                <a:lnTo>
                  <a:pt x="5891530" y="6284429"/>
                </a:lnTo>
                <a:lnTo>
                  <a:pt x="5891530" y="163322"/>
                </a:lnTo>
                <a:lnTo>
                  <a:pt x="5885693" y="119915"/>
                </a:lnTo>
                <a:lnTo>
                  <a:pt x="5869225" y="80903"/>
                </a:lnTo>
                <a:lnTo>
                  <a:pt x="5843682" y="47847"/>
                </a:lnTo>
                <a:lnTo>
                  <a:pt x="5810626" y="22304"/>
                </a:lnTo>
                <a:lnTo>
                  <a:pt x="5771614" y="5836"/>
                </a:lnTo>
                <a:lnTo>
                  <a:pt x="5728208" y="0"/>
                </a:lnTo>
                <a:close/>
              </a:path>
            </a:pathLst>
          </a:custGeom>
          <a:solidFill>
            <a:srgbClr val="2B09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36" name="Google Shape;236;p27"/>
          <p:cNvSpPr txBox="1"/>
          <p:nvPr>
            <p:ph type="title"/>
          </p:nvPr>
        </p:nvSpPr>
        <p:spPr>
          <a:xfrm>
            <a:off x="5206841" y="683181"/>
            <a:ext cx="2279650" cy="225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Ontology-Guided Accuracy</a:t>
            </a:r>
            <a:endParaRPr sz="1400"/>
          </a:p>
        </p:txBody>
      </p:sp>
      <p:sp>
        <p:nvSpPr>
          <p:cNvPr id="237" name="Google Shape;237;p27"/>
          <p:cNvSpPr txBox="1"/>
          <p:nvPr/>
        </p:nvSpPr>
        <p:spPr>
          <a:xfrm>
            <a:off x="5206841" y="1197060"/>
            <a:ext cx="33684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marR="0" rtl="0" algn="l">
              <a:lnSpc>
                <a:spcPct val="138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Without ontological constraints, graph edges are syntactically valid but semantically meaningless. The ontology transforms the verifier from a structural checker into a genuine domain reasoner.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7931229" y="4698513"/>
            <a:ext cx="1169194" cy="414734"/>
          </a:xfrm>
          <a:custGeom>
            <a:rect b="b" l="l" r="r" t="t"/>
            <a:pathLst>
              <a:path extrusionOk="0" h="663575" w="1870709">
                <a:moveTo>
                  <a:pt x="1870709" y="0"/>
                </a:moveTo>
                <a:lnTo>
                  <a:pt x="0" y="0"/>
                </a:lnTo>
                <a:lnTo>
                  <a:pt x="0" y="663117"/>
                </a:lnTo>
                <a:lnTo>
                  <a:pt x="1870709" y="663117"/>
                </a:lnTo>
                <a:lnTo>
                  <a:pt x="1870709" y="0"/>
                </a:lnTo>
                <a:close/>
              </a:path>
            </a:pathLst>
          </a:custGeom>
          <a:solidFill>
            <a:srgbClr val="27242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-1"/>
            <a:ext cx="3429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8"/>
          <p:cNvSpPr txBox="1"/>
          <p:nvPr>
            <p:ph type="title"/>
          </p:nvPr>
        </p:nvSpPr>
        <p:spPr>
          <a:xfrm>
            <a:off x="480504" y="370761"/>
            <a:ext cx="8182991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Circular Reasoning</a:t>
            </a:r>
            <a:endParaRPr/>
          </a:p>
        </p:txBody>
      </p:sp>
      <p:grpSp>
        <p:nvGrpSpPr>
          <p:cNvPr id="245" name="Google Shape;245;p28"/>
          <p:cNvGrpSpPr/>
          <p:nvPr/>
        </p:nvGrpSpPr>
        <p:grpSpPr>
          <a:xfrm>
            <a:off x="488378" y="2012156"/>
            <a:ext cx="2199084" cy="2580084"/>
            <a:chOff x="781405" y="3219450"/>
            <a:chExt cx="3518535" cy="4128135"/>
          </a:xfrm>
        </p:grpSpPr>
        <p:sp>
          <p:nvSpPr>
            <p:cNvPr id="246" name="Google Shape;246;p28"/>
            <p:cNvSpPr/>
            <p:nvPr/>
          </p:nvSpPr>
          <p:spPr>
            <a:xfrm>
              <a:off x="781405" y="3219450"/>
              <a:ext cx="3518535" cy="4128135"/>
            </a:xfrm>
            <a:custGeom>
              <a:rect b="b" l="l" r="r" t="t"/>
              <a:pathLst>
                <a:path extrusionOk="0" h="4128134" w="3518535">
                  <a:moveTo>
                    <a:pt x="3424580" y="0"/>
                  </a:moveTo>
                  <a:lnTo>
                    <a:pt x="93764" y="0"/>
                  </a:lnTo>
                  <a:lnTo>
                    <a:pt x="57269" y="7375"/>
                  </a:lnTo>
                  <a:lnTo>
                    <a:pt x="27465" y="27479"/>
                  </a:lnTo>
                  <a:lnTo>
                    <a:pt x="7369" y="57275"/>
                  </a:lnTo>
                  <a:lnTo>
                    <a:pt x="0" y="93725"/>
                  </a:lnTo>
                  <a:lnTo>
                    <a:pt x="0" y="4034370"/>
                  </a:lnTo>
                  <a:lnTo>
                    <a:pt x="7369" y="4070870"/>
                  </a:lnTo>
                  <a:lnTo>
                    <a:pt x="27465" y="4100674"/>
                  </a:lnTo>
                  <a:lnTo>
                    <a:pt x="57269" y="4120767"/>
                  </a:lnTo>
                  <a:lnTo>
                    <a:pt x="93764" y="4128135"/>
                  </a:lnTo>
                  <a:lnTo>
                    <a:pt x="3424580" y="4128135"/>
                  </a:lnTo>
                  <a:lnTo>
                    <a:pt x="3461031" y="4120767"/>
                  </a:lnTo>
                  <a:lnTo>
                    <a:pt x="3490826" y="4100674"/>
                  </a:lnTo>
                  <a:lnTo>
                    <a:pt x="3510930" y="4070870"/>
                  </a:lnTo>
                  <a:lnTo>
                    <a:pt x="3518306" y="4034370"/>
                  </a:lnTo>
                  <a:lnTo>
                    <a:pt x="3518306" y="93725"/>
                  </a:lnTo>
                  <a:lnTo>
                    <a:pt x="3510930" y="57275"/>
                  </a:lnTo>
                  <a:lnTo>
                    <a:pt x="3490826" y="27479"/>
                  </a:lnTo>
                  <a:lnTo>
                    <a:pt x="3461031" y="7375"/>
                  </a:lnTo>
                  <a:lnTo>
                    <a:pt x="3424580" y="0"/>
                  </a:lnTo>
                  <a:close/>
                </a:path>
              </a:pathLst>
            </a:custGeom>
            <a:solidFill>
              <a:srgbClr val="45070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pic>
          <p:nvPicPr>
            <p:cNvPr id="247" name="Google Shape;247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4646" y="3554501"/>
              <a:ext cx="279082" cy="2232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28"/>
          <p:cNvSpPr txBox="1"/>
          <p:nvPr/>
        </p:nvSpPr>
        <p:spPr>
          <a:xfrm>
            <a:off x="934085" y="2149507"/>
            <a:ext cx="1553369" cy="2016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00">
            <a:spAutoFit/>
          </a:bodyPr>
          <a:lstStyle/>
          <a:p>
            <a:pPr indent="0" lvl="0" marL="12700" marR="63500" rtl="0" algn="l">
              <a:lnSpc>
                <a:spcPct val="13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Detected Pattern:</a:t>
            </a:r>
            <a:r>
              <a:rPr lang="en-GB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"The urease test works </a:t>
            </a:r>
            <a:r>
              <a:rPr i="1" lang="en-GB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because </a:t>
            </a:r>
            <a:r>
              <a:rPr lang="en-GB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it detects H. pylori infection."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3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"H. pylori infection is confirmed </a:t>
            </a:r>
            <a:r>
              <a:rPr i="1" lang="en-GB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because </a:t>
            </a:r>
            <a:r>
              <a:rPr lang="en-GB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the urease test is positive." No external premise grounds either claim.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9" name="Google Shape;249;p28"/>
          <p:cNvSpPr txBox="1"/>
          <p:nvPr/>
        </p:nvSpPr>
        <p:spPr>
          <a:xfrm>
            <a:off x="480500" y="1003500"/>
            <a:ext cx="4738800" cy="11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25">
            <a:spAutoFit/>
          </a:bodyPr>
          <a:lstStyle/>
          <a:p>
            <a:pPr indent="0" lvl="0" marL="12700" marR="0" rtl="0" algn="l">
              <a:lnSpc>
                <a:spcPct val="133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A critical failure mode detected by graph traversal — circular reasoning creates a self-referential loop that </a:t>
            </a:r>
            <a:r>
              <a:rPr b="1" lang="en-GB" sz="1100">
                <a:solidFill>
                  <a:srgbClr val="2B09FF"/>
                </a:solidFill>
                <a:latin typeface="Tahoma"/>
                <a:ea typeface="Tahoma"/>
                <a:cs typeface="Tahoma"/>
                <a:sym typeface="Tahoma"/>
              </a:rPr>
              <a:t>never reaches independent evidence</a:t>
            </a: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255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Why It Matters</a:t>
            </a:r>
            <a:endParaRPr sz="13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0" name="Google Shape;250;p28"/>
          <p:cNvSpPr txBox="1"/>
          <p:nvPr/>
        </p:nvSpPr>
        <p:spPr>
          <a:xfrm>
            <a:off x="3024822" y="2315559"/>
            <a:ext cx="2104627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25">
            <a:spAutoFit/>
          </a:bodyPr>
          <a:lstStyle/>
          <a:p>
            <a:pPr indent="0" lvl="0" marL="12700" marR="0" rtl="0" algn="l">
              <a:lnSpc>
                <a:spcPct val="13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4DFDF"/>
                </a:solidFill>
                <a:latin typeface="Tahoma"/>
                <a:ea typeface="Tahoma"/>
                <a:cs typeface="Tahoma"/>
                <a:sym typeface="Tahoma"/>
              </a:rPr>
              <a:t>Circular arguments yield high surface coherence with zero logical validity. Graph cycle detection flags these structures automatically, preventing them from being accepted as sound medical reasoning.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